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aleway" charset="1" panose="00000000000000000000"/>
      <p:regular r:id="rId16"/>
    </p:embeddedFont>
    <p:embeddedFont>
      <p:font typeface="Montserrat Semi-Bold" charset="1" panose="00000700000000000000"/>
      <p:regular r:id="rId17"/>
    </p:embeddedFont>
    <p:embeddedFont>
      <p:font typeface="Montserrat Light" charset="1" panose="00000400000000000000"/>
      <p:regular r:id="rId18"/>
    </p:embeddedFont>
    <p:embeddedFont>
      <p:font typeface="Montserrat" charset="1" panose="00000500000000000000"/>
      <p:regular r:id="rId19"/>
    </p:embeddedFont>
    <p:embeddedFont>
      <p:font typeface="Raleway Bold" charset="1" panose="00000000000000000000"/>
      <p:regular r:id="rId20"/>
    </p:embeddedFont>
    <p:embeddedFont>
      <p:font typeface="Raleway Light" charset="1" panose="000000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3201"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6031923" y="6685979"/>
            <a:ext cx="6224153" cy="427973"/>
          </a:xfrm>
          <a:prstGeom prst="rect">
            <a:avLst/>
          </a:prstGeom>
        </p:spPr>
        <p:txBody>
          <a:bodyPr anchor="t" rtlCol="false" tIns="0" lIns="0" bIns="0" rIns="0">
            <a:spAutoFit/>
          </a:bodyPr>
          <a:lstStyle/>
          <a:p>
            <a:pPr algn="ctr" marL="0" indent="0" lvl="0">
              <a:lnSpc>
                <a:spcPts val="3442"/>
              </a:lnSpc>
              <a:spcBef>
                <a:spcPct val="0"/>
              </a:spcBef>
            </a:pPr>
            <a:r>
              <a:rPr lang="en-US" sz="2458">
                <a:solidFill>
                  <a:srgbClr val="042239"/>
                </a:solidFill>
                <a:latin typeface="Raleway"/>
                <a:ea typeface="Raleway"/>
                <a:cs typeface="Raleway"/>
                <a:sym typeface="Raleway"/>
              </a:rPr>
              <a:t>Alex Fernando Friely Reyes</a:t>
            </a:r>
          </a:p>
        </p:txBody>
      </p:sp>
      <p:sp>
        <p:nvSpPr>
          <p:cNvPr name="TextBox 10" id="10"/>
          <p:cNvSpPr txBox="true"/>
          <p:nvPr/>
        </p:nvSpPr>
        <p:spPr>
          <a:xfrm rot="0">
            <a:off x="1887738" y="4076290"/>
            <a:ext cx="14512524" cy="2455101"/>
          </a:xfrm>
          <a:prstGeom prst="rect">
            <a:avLst/>
          </a:prstGeom>
        </p:spPr>
        <p:txBody>
          <a:bodyPr anchor="t" rtlCol="false" tIns="0" lIns="0" bIns="0" rIns="0">
            <a:spAutoFit/>
          </a:bodyPr>
          <a:lstStyle/>
          <a:p>
            <a:pPr algn="ctr">
              <a:lnSpc>
                <a:spcPts val="20079"/>
              </a:lnSpc>
            </a:pPr>
            <a:r>
              <a:rPr lang="en-US" b="true" sz="14342" spc="874">
                <a:solidFill>
                  <a:srgbClr val="042239"/>
                </a:solidFill>
                <a:latin typeface="Montserrat Semi-Bold"/>
                <a:ea typeface="Montserrat Semi-Bold"/>
                <a:cs typeface="Montserrat Semi-Bold"/>
                <a:sym typeface="Montserrat Semi-Bold"/>
              </a:rPr>
              <a:t>HOGAR</a:t>
            </a:r>
          </a:p>
        </p:txBody>
      </p:sp>
      <p:sp>
        <p:nvSpPr>
          <p:cNvPr name="TextBox 11" id="11"/>
          <p:cNvSpPr txBox="true"/>
          <p:nvPr/>
        </p:nvSpPr>
        <p:spPr>
          <a:xfrm rot="0">
            <a:off x="3020492" y="2649165"/>
            <a:ext cx="12247017" cy="1899824"/>
          </a:xfrm>
          <a:prstGeom prst="rect">
            <a:avLst/>
          </a:prstGeom>
        </p:spPr>
        <p:txBody>
          <a:bodyPr anchor="t" rtlCol="false" tIns="0" lIns="0" bIns="0" rIns="0">
            <a:spAutoFit/>
          </a:bodyPr>
          <a:lstStyle/>
          <a:p>
            <a:pPr algn="ctr">
              <a:lnSpc>
                <a:spcPts val="7635"/>
              </a:lnSpc>
            </a:pPr>
            <a:r>
              <a:rPr lang="en-US" sz="5453" spc="2186">
                <a:solidFill>
                  <a:srgbClr val="042239"/>
                </a:solidFill>
                <a:latin typeface="Montserrat Light"/>
                <a:ea typeface="Montserrat Light"/>
                <a:cs typeface="Montserrat Light"/>
                <a:sym typeface="Montserrat Light"/>
              </a:rPr>
              <a:t>PATITAS EN BUSCA DE UN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8848" y="683438"/>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false" rot="-10800000">
            <a:off x="9598837" y="587744"/>
            <a:ext cx="8184045" cy="9111512"/>
          </a:xfrm>
          <a:custGeom>
            <a:avLst/>
            <a:gdLst/>
            <a:ahLst/>
            <a:cxnLst/>
            <a:rect r="r" b="b" t="t" l="l"/>
            <a:pathLst>
              <a:path h="9111512" w="8184045">
                <a:moveTo>
                  <a:pt x="0" y="0"/>
                </a:moveTo>
                <a:lnTo>
                  <a:pt x="8184045" y="0"/>
                </a:lnTo>
                <a:lnTo>
                  <a:pt x="8184045" y="9111512"/>
                </a:lnTo>
                <a:lnTo>
                  <a:pt x="0" y="9111512"/>
                </a:lnTo>
                <a:lnTo>
                  <a:pt x="0" y="0"/>
                </a:lnTo>
                <a:close/>
              </a:path>
            </a:pathLst>
          </a:custGeom>
          <a:blipFill>
            <a:blip r:embed="rId2"/>
            <a:stretch>
              <a:fillRect l="0" t="-2705" r="0" b="0"/>
            </a:stretch>
          </a:blipFill>
        </p:spPr>
      </p:sp>
      <p:sp>
        <p:nvSpPr>
          <p:cNvPr name="TextBox 6" id="6"/>
          <p:cNvSpPr txBox="true"/>
          <p:nvPr/>
        </p:nvSpPr>
        <p:spPr>
          <a:xfrm rot="0">
            <a:off x="1028700" y="489354"/>
            <a:ext cx="11234560" cy="2321852"/>
          </a:xfrm>
          <a:prstGeom prst="rect">
            <a:avLst/>
          </a:prstGeom>
        </p:spPr>
        <p:txBody>
          <a:bodyPr anchor="t" rtlCol="false" tIns="0" lIns="0" bIns="0" rIns="0">
            <a:spAutoFit/>
          </a:bodyPr>
          <a:lstStyle/>
          <a:p>
            <a:pPr algn="l">
              <a:lnSpc>
                <a:spcPts val="19023"/>
              </a:lnSpc>
            </a:pPr>
            <a:r>
              <a:rPr lang="en-US" sz="13588" spc="828">
                <a:solidFill>
                  <a:srgbClr val="042239"/>
                </a:solidFill>
                <a:latin typeface="Montserrat"/>
                <a:ea typeface="Montserrat"/>
                <a:cs typeface="Montserrat"/>
                <a:sym typeface="Montserrat"/>
              </a:rPr>
              <a:t>Índice</a:t>
            </a:r>
          </a:p>
        </p:txBody>
      </p:sp>
      <p:grpSp>
        <p:nvGrpSpPr>
          <p:cNvPr name="Group 7" id="7"/>
          <p:cNvGrpSpPr/>
          <p:nvPr/>
        </p:nvGrpSpPr>
        <p:grpSpPr>
          <a:xfrm rot="0">
            <a:off x="1853500" y="3755939"/>
            <a:ext cx="970964" cy="992008"/>
            <a:chOff x="0" y="0"/>
            <a:chExt cx="574938" cy="587399"/>
          </a:xfrm>
        </p:grpSpPr>
        <p:sp>
          <p:nvSpPr>
            <p:cNvPr name="Freeform 8" id="8"/>
            <p:cNvSpPr/>
            <p:nvPr/>
          </p:nvSpPr>
          <p:spPr>
            <a:xfrm flipH="false" flipV="false" rot="0">
              <a:off x="0" y="0"/>
              <a:ext cx="574938" cy="587399"/>
            </a:xfrm>
            <a:custGeom>
              <a:avLst/>
              <a:gdLst/>
              <a:ahLst/>
              <a:cxnLst/>
              <a:rect r="r" b="b" t="t" l="l"/>
              <a:pathLst>
                <a:path h="587399" w="574938">
                  <a:moveTo>
                    <a:pt x="127575" y="0"/>
                  </a:moveTo>
                  <a:lnTo>
                    <a:pt x="447363" y="0"/>
                  </a:lnTo>
                  <a:cubicBezTo>
                    <a:pt x="517821" y="0"/>
                    <a:pt x="574938" y="57117"/>
                    <a:pt x="574938" y="127575"/>
                  </a:cubicBezTo>
                  <a:lnTo>
                    <a:pt x="574938" y="459824"/>
                  </a:lnTo>
                  <a:cubicBezTo>
                    <a:pt x="574938" y="493659"/>
                    <a:pt x="561497" y="526108"/>
                    <a:pt x="537572" y="550033"/>
                  </a:cubicBezTo>
                  <a:cubicBezTo>
                    <a:pt x="513647" y="573958"/>
                    <a:pt x="481198" y="587399"/>
                    <a:pt x="447363" y="587399"/>
                  </a:cubicBezTo>
                  <a:lnTo>
                    <a:pt x="127575" y="587399"/>
                  </a:lnTo>
                  <a:cubicBezTo>
                    <a:pt x="93740" y="587399"/>
                    <a:pt x="61291" y="573958"/>
                    <a:pt x="37366" y="550033"/>
                  </a:cubicBezTo>
                  <a:cubicBezTo>
                    <a:pt x="13441" y="526108"/>
                    <a:pt x="0" y="493659"/>
                    <a:pt x="0" y="459824"/>
                  </a:cubicBezTo>
                  <a:lnTo>
                    <a:pt x="0" y="127575"/>
                  </a:lnTo>
                  <a:cubicBezTo>
                    <a:pt x="0" y="93740"/>
                    <a:pt x="13441" y="61291"/>
                    <a:pt x="37366" y="37366"/>
                  </a:cubicBezTo>
                  <a:cubicBezTo>
                    <a:pt x="61291" y="13441"/>
                    <a:pt x="93740" y="0"/>
                    <a:pt x="127575" y="0"/>
                  </a:cubicBezTo>
                  <a:close/>
                </a:path>
              </a:pathLst>
            </a:custGeom>
            <a:solidFill>
              <a:srgbClr val="054B81"/>
            </a:solidFill>
            <a:ln cap="sq">
              <a:noFill/>
              <a:prstDash val="solid"/>
              <a:miter/>
            </a:ln>
          </p:spPr>
        </p:sp>
        <p:sp>
          <p:nvSpPr>
            <p:cNvPr name="TextBox 9" id="9"/>
            <p:cNvSpPr txBox="true"/>
            <p:nvPr/>
          </p:nvSpPr>
          <p:spPr>
            <a:xfrm>
              <a:off x="0" y="-47625"/>
              <a:ext cx="574938" cy="635024"/>
            </a:xfrm>
            <a:prstGeom prst="rect">
              <a:avLst/>
            </a:prstGeom>
          </p:spPr>
          <p:txBody>
            <a:bodyPr anchor="ctr" rtlCol="false" tIns="48876" lIns="48876" bIns="48876" rIns="48876"/>
            <a:lstStyle/>
            <a:p>
              <a:pPr algn="ctr">
                <a:lnSpc>
                  <a:spcPts val="1588"/>
                </a:lnSpc>
              </a:pPr>
            </a:p>
          </p:txBody>
        </p:sp>
      </p:grpSp>
      <p:sp>
        <p:nvSpPr>
          <p:cNvPr name="TextBox 10" id="10"/>
          <p:cNvSpPr txBox="true"/>
          <p:nvPr/>
        </p:nvSpPr>
        <p:spPr>
          <a:xfrm rot="0">
            <a:off x="3178993" y="7187431"/>
            <a:ext cx="5648623" cy="401535"/>
          </a:xfrm>
          <a:prstGeom prst="rect">
            <a:avLst/>
          </a:prstGeom>
        </p:spPr>
        <p:txBody>
          <a:bodyPr anchor="t" rtlCol="false" tIns="0" lIns="0" bIns="0" rIns="0">
            <a:spAutoFit/>
          </a:bodyPr>
          <a:lstStyle/>
          <a:p>
            <a:pPr algn="l">
              <a:lnSpc>
                <a:spcPts val="3171"/>
              </a:lnSpc>
            </a:pPr>
            <a:r>
              <a:rPr lang="en-US" sz="2402">
                <a:solidFill>
                  <a:srgbClr val="042239"/>
                </a:solidFill>
                <a:latin typeface="Raleway"/>
                <a:ea typeface="Raleway"/>
                <a:cs typeface="Raleway"/>
                <a:sym typeface="Raleway"/>
              </a:rPr>
              <a:t>Tecnologías utilizadas</a:t>
            </a:r>
          </a:p>
        </p:txBody>
      </p:sp>
      <p:sp>
        <p:nvSpPr>
          <p:cNvPr name="TextBox 11" id="11"/>
          <p:cNvSpPr txBox="true"/>
          <p:nvPr/>
        </p:nvSpPr>
        <p:spPr>
          <a:xfrm rot="0">
            <a:off x="3178993" y="4032125"/>
            <a:ext cx="4767744" cy="401535"/>
          </a:xfrm>
          <a:prstGeom prst="rect">
            <a:avLst/>
          </a:prstGeom>
        </p:spPr>
        <p:txBody>
          <a:bodyPr anchor="t" rtlCol="false" tIns="0" lIns="0" bIns="0" rIns="0">
            <a:spAutoFit/>
          </a:bodyPr>
          <a:lstStyle/>
          <a:p>
            <a:pPr algn="l">
              <a:lnSpc>
                <a:spcPts val="3171"/>
              </a:lnSpc>
            </a:pPr>
            <a:r>
              <a:rPr lang="en-US" sz="2402">
                <a:solidFill>
                  <a:srgbClr val="042239"/>
                </a:solidFill>
                <a:latin typeface="Raleway"/>
                <a:ea typeface="Raleway"/>
                <a:cs typeface="Raleway"/>
                <a:sym typeface="Raleway"/>
              </a:rPr>
              <a:t>Introducción</a:t>
            </a:r>
          </a:p>
        </p:txBody>
      </p:sp>
      <p:sp>
        <p:nvSpPr>
          <p:cNvPr name="TextBox 12" id="12"/>
          <p:cNvSpPr txBox="true"/>
          <p:nvPr/>
        </p:nvSpPr>
        <p:spPr>
          <a:xfrm rot="0">
            <a:off x="1863025" y="3689264"/>
            <a:ext cx="961439" cy="845958"/>
          </a:xfrm>
          <a:prstGeom prst="rect">
            <a:avLst/>
          </a:prstGeom>
        </p:spPr>
        <p:txBody>
          <a:bodyPr anchor="t" rtlCol="false" tIns="0" lIns="0" bIns="0" rIns="0">
            <a:spAutoFit/>
          </a:bodyPr>
          <a:lstStyle/>
          <a:p>
            <a:pPr algn="ctr">
              <a:lnSpc>
                <a:spcPts val="6753"/>
              </a:lnSpc>
            </a:pPr>
            <a:r>
              <a:rPr lang="en-US" b="true" sz="5115" spc="567">
                <a:solidFill>
                  <a:srgbClr val="F2F8F7"/>
                </a:solidFill>
                <a:latin typeface="Raleway Bold"/>
                <a:ea typeface="Raleway Bold"/>
                <a:cs typeface="Raleway Bold"/>
                <a:sym typeface="Raleway Bold"/>
              </a:rPr>
              <a:t>1</a:t>
            </a:r>
          </a:p>
        </p:txBody>
      </p:sp>
      <p:sp>
        <p:nvSpPr>
          <p:cNvPr name="TextBox 13" id="13"/>
          <p:cNvSpPr txBox="true"/>
          <p:nvPr/>
        </p:nvSpPr>
        <p:spPr>
          <a:xfrm rot="0">
            <a:off x="3280066" y="8926933"/>
            <a:ext cx="5648623" cy="401535"/>
          </a:xfrm>
          <a:prstGeom prst="rect">
            <a:avLst/>
          </a:prstGeom>
        </p:spPr>
        <p:txBody>
          <a:bodyPr anchor="t" rtlCol="false" tIns="0" lIns="0" bIns="0" rIns="0">
            <a:spAutoFit/>
          </a:bodyPr>
          <a:lstStyle/>
          <a:p>
            <a:pPr algn="l">
              <a:lnSpc>
                <a:spcPts val="3171"/>
              </a:lnSpc>
            </a:pPr>
            <a:r>
              <a:rPr lang="en-US" sz="2402">
                <a:solidFill>
                  <a:srgbClr val="042239"/>
                </a:solidFill>
                <a:latin typeface="Raleway"/>
                <a:ea typeface="Raleway"/>
                <a:cs typeface="Raleway"/>
                <a:sym typeface="Raleway"/>
              </a:rPr>
              <a:t>Entidades del proyecto</a:t>
            </a:r>
          </a:p>
        </p:txBody>
      </p:sp>
      <p:sp>
        <p:nvSpPr>
          <p:cNvPr name="TextBox 14" id="14"/>
          <p:cNvSpPr txBox="true"/>
          <p:nvPr/>
        </p:nvSpPr>
        <p:spPr>
          <a:xfrm rot="0">
            <a:off x="9867331" y="4528130"/>
            <a:ext cx="5648623" cy="401535"/>
          </a:xfrm>
          <a:prstGeom prst="rect">
            <a:avLst/>
          </a:prstGeom>
        </p:spPr>
        <p:txBody>
          <a:bodyPr anchor="t" rtlCol="false" tIns="0" lIns="0" bIns="0" rIns="0">
            <a:spAutoFit/>
          </a:bodyPr>
          <a:lstStyle/>
          <a:p>
            <a:pPr algn="l">
              <a:lnSpc>
                <a:spcPts val="3171"/>
              </a:lnSpc>
            </a:pPr>
            <a:r>
              <a:rPr lang="en-US" sz="2402">
                <a:solidFill>
                  <a:srgbClr val="042239"/>
                </a:solidFill>
                <a:latin typeface="Raleway"/>
                <a:ea typeface="Raleway"/>
                <a:cs typeface="Raleway"/>
                <a:sym typeface="Raleway"/>
              </a:rPr>
              <a:t>Funcionamiento en los refugios </a:t>
            </a:r>
          </a:p>
        </p:txBody>
      </p:sp>
      <p:grpSp>
        <p:nvGrpSpPr>
          <p:cNvPr name="Group 15" id="15"/>
          <p:cNvGrpSpPr/>
          <p:nvPr/>
        </p:nvGrpSpPr>
        <p:grpSpPr>
          <a:xfrm rot="0">
            <a:off x="1882075" y="5378820"/>
            <a:ext cx="970964" cy="992008"/>
            <a:chOff x="0" y="0"/>
            <a:chExt cx="574938" cy="587399"/>
          </a:xfrm>
        </p:grpSpPr>
        <p:sp>
          <p:nvSpPr>
            <p:cNvPr name="Freeform 16" id="16"/>
            <p:cNvSpPr/>
            <p:nvPr/>
          </p:nvSpPr>
          <p:spPr>
            <a:xfrm flipH="false" flipV="false" rot="0">
              <a:off x="0" y="0"/>
              <a:ext cx="574938" cy="587399"/>
            </a:xfrm>
            <a:custGeom>
              <a:avLst/>
              <a:gdLst/>
              <a:ahLst/>
              <a:cxnLst/>
              <a:rect r="r" b="b" t="t" l="l"/>
              <a:pathLst>
                <a:path h="587399" w="574938">
                  <a:moveTo>
                    <a:pt x="127575" y="0"/>
                  </a:moveTo>
                  <a:lnTo>
                    <a:pt x="447363" y="0"/>
                  </a:lnTo>
                  <a:cubicBezTo>
                    <a:pt x="517821" y="0"/>
                    <a:pt x="574938" y="57117"/>
                    <a:pt x="574938" y="127575"/>
                  </a:cubicBezTo>
                  <a:lnTo>
                    <a:pt x="574938" y="459824"/>
                  </a:lnTo>
                  <a:cubicBezTo>
                    <a:pt x="574938" y="493659"/>
                    <a:pt x="561497" y="526108"/>
                    <a:pt x="537572" y="550033"/>
                  </a:cubicBezTo>
                  <a:cubicBezTo>
                    <a:pt x="513647" y="573958"/>
                    <a:pt x="481198" y="587399"/>
                    <a:pt x="447363" y="587399"/>
                  </a:cubicBezTo>
                  <a:lnTo>
                    <a:pt x="127575" y="587399"/>
                  </a:lnTo>
                  <a:cubicBezTo>
                    <a:pt x="93740" y="587399"/>
                    <a:pt x="61291" y="573958"/>
                    <a:pt x="37366" y="550033"/>
                  </a:cubicBezTo>
                  <a:cubicBezTo>
                    <a:pt x="13441" y="526108"/>
                    <a:pt x="0" y="493659"/>
                    <a:pt x="0" y="459824"/>
                  </a:cubicBezTo>
                  <a:lnTo>
                    <a:pt x="0" y="127575"/>
                  </a:lnTo>
                  <a:cubicBezTo>
                    <a:pt x="0" y="93740"/>
                    <a:pt x="13441" y="61291"/>
                    <a:pt x="37366" y="37366"/>
                  </a:cubicBezTo>
                  <a:cubicBezTo>
                    <a:pt x="61291" y="13441"/>
                    <a:pt x="93740" y="0"/>
                    <a:pt x="127575" y="0"/>
                  </a:cubicBezTo>
                  <a:close/>
                </a:path>
              </a:pathLst>
            </a:custGeom>
            <a:solidFill>
              <a:srgbClr val="054B81"/>
            </a:solidFill>
            <a:ln cap="sq">
              <a:noFill/>
              <a:prstDash val="solid"/>
              <a:miter/>
            </a:ln>
          </p:spPr>
        </p:sp>
        <p:sp>
          <p:nvSpPr>
            <p:cNvPr name="TextBox 17" id="17"/>
            <p:cNvSpPr txBox="true"/>
            <p:nvPr/>
          </p:nvSpPr>
          <p:spPr>
            <a:xfrm>
              <a:off x="0" y="-47625"/>
              <a:ext cx="574938" cy="635024"/>
            </a:xfrm>
            <a:prstGeom prst="rect">
              <a:avLst/>
            </a:prstGeom>
          </p:spPr>
          <p:txBody>
            <a:bodyPr anchor="ctr" rtlCol="false" tIns="48876" lIns="48876" bIns="48876" rIns="48876"/>
            <a:lstStyle/>
            <a:p>
              <a:pPr algn="ctr">
                <a:lnSpc>
                  <a:spcPts val="1588"/>
                </a:lnSpc>
              </a:pPr>
            </a:p>
          </p:txBody>
        </p:sp>
      </p:grpSp>
      <p:sp>
        <p:nvSpPr>
          <p:cNvPr name="TextBox 18" id="18"/>
          <p:cNvSpPr txBox="true"/>
          <p:nvPr/>
        </p:nvSpPr>
        <p:spPr>
          <a:xfrm rot="0">
            <a:off x="1853500" y="5343154"/>
            <a:ext cx="961439" cy="845958"/>
          </a:xfrm>
          <a:prstGeom prst="rect">
            <a:avLst/>
          </a:prstGeom>
        </p:spPr>
        <p:txBody>
          <a:bodyPr anchor="t" rtlCol="false" tIns="0" lIns="0" bIns="0" rIns="0">
            <a:spAutoFit/>
          </a:bodyPr>
          <a:lstStyle/>
          <a:p>
            <a:pPr algn="ctr">
              <a:lnSpc>
                <a:spcPts val="6753"/>
              </a:lnSpc>
            </a:pPr>
            <a:r>
              <a:rPr lang="en-US" b="true" sz="5115" spc="567">
                <a:solidFill>
                  <a:srgbClr val="F2F8F7"/>
                </a:solidFill>
                <a:latin typeface="Raleway Bold"/>
                <a:ea typeface="Raleway Bold"/>
                <a:cs typeface="Raleway Bold"/>
                <a:sym typeface="Raleway Bold"/>
              </a:rPr>
              <a:t>2</a:t>
            </a:r>
          </a:p>
        </p:txBody>
      </p:sp>
      <p:grpSp>
        <p:nvGrpSpPr>
          <p:cNvPr name="Group 19" id="19"/>
          <p:cNvGrpSpPr/>
          <p:nvPr/>
        </p:nvGrpSpPr>
        <p:grpSpPr>
          <a:xfrm rot="0">
            <a:off x="1891600" y="6995343"/>
            <a:ext cx="970964" cy="992008"/>
            <a:chOff x="0" y="0"/>
            <a:chExt cx="574938" cy="587399"/>
          </a:xfrm>
        </p:grpSpPr>
        <p:sp>
          <p:nvSpPr>
            <p:cNvPr name="Freeform 20" id="20"/>
            <p:cNvSpPr/>
            <p:nvPr/>
          </p:nvSpPr>
          <p:spPr>
            <a:xfrm flipH="false" flipV="false" rot="0">
              <a:off x="0" y="0"/>
              <a:ext cx="574938" cy="587399"/>
            </a:xfrm>
            <a:custGeom>
              <a:avLst/>
              <a:gdLst/>
              <a:ahLst/>
              <a:cxnLst/>
              <a:rect r="r" b="b" t="t" l="l"/>
              <a:pathLst>
                <a:path h="587399" w="574938">
                  <a:moveTo>
                    <a:pt x="127575" y="0"/>
                  </a:moveTo>
                  <a:lnTo>
                    <a:pt x="447363" y="0"/>
                  </a:lnTo>
                  <a:cubicBezTo>
                    <a:pt x="517821" y="0"/>
                    <a:pt x="574938" y="57117"/>
                    <a:pt x="574938" y="127575"/>
                  </a:cubicBezTo>
                  <a:lnTo>
                    <a:pt x="574938" y="459824"/>
                  </a:lnTo>
                  <a:cubicBezTo>
                    <a:pt x="574938" y="493659"/>
                    <a:pt x="561497" y="526108"/>
                    <a:pt x="537572" y="550033"/>
                  </a:cubicBezTo>
                  <a:cubicBezTo>
                    <a:pt x="513647" y="573958"/>
                    <a:pt x="481198" y="587399"/>
                    <a:pt x="447363" y="587399"/>
                  </a:cubicBezTo>
                  <a:lnTo>
                    <a:pt x="127575" y="587399"/>
                  </a:lnTo>
                  <a:cubicBezTo>
                    <a:pt x="93740" y="587399"/>
                    <a:pt x="61291" y="573958"/>
                    <a:pt x="37366" y="550033"/>
                  </a:cubicBezTo>
                  <a:cubicBezTo>
                    <a:pt x="13441" y="526108"/>
                    <a:pt x="0" y="493659"/>
                    <a:pt x="0" y="459824"/>
                  </a:cubicBezTo>
                  <a:lnTo>
                    <a:pt x="0" y="127575"/>
                  </a:lnTo>
                  <a:cubicBezTo>
                    <a:pt x="0" y="93740"/>
                    <a:pt x="13441" y="61291"/>
                    <a:pt x="37366" y="37366"/>
                  </a:cubicBezTo>
                  <a:cubicBezTo>
                    <a:pt x="61291" y="13441"/>
                    <a:pt x="93740" y="0"/>
                    <a:pt x="127575" y="0"/>
                  </a:cubicBezTo>
                  <a:close/>
                </a:path>
              </a:pathLst>
            </a:custGeom>
            <a:solidFill>
              <a:srgbClr val="054B81"/>
            </a:solidFill>
            <a:ln cap="sq">
              <a:noFill/>
              <a:prstDash val="solid"/>
              <a:miter/>
            </a:ln>
          </p:spPr>
        </p:sp>
        <p:sp>
          <p:nvSpPr>
            <p:cNvPr name="TextBox 21" id="21"/>
            <p:cNvSpPr txBox="true"/>
            <p:nvPr/>
          </p:nvSpPr>
          <p:spPr>
            <a:xfrm>
              <a:off x="0" y="-47625"/>
              <a:ext cx="574938" cy="635024"/>
            </a:xfrm>
            <a:prstGeom prst="rect">
              <a:avLst/>
            </a:prstGeom>
          </p:spPr>
          <p:txBody>
            <a:bodyPr anchor="ctr" rtlCol="false" tIns="48876" lIns="48876" bIns="48876" rIns="48876"/>
            <a:lstStyle/>
            <a:p>
              <a:pPr algn="ctr">
                <a:lnSpc>
                  <a:spcPts val="1588"/>
                </a:lnSpc>
              </a:pPr>
            </a:p>
          </p:txBody>
        </p:sp>
      </p:grpSp>
      <p:sp>
        <p:nvSpPr>
          <p:cNvPr name="TextBox 22" id="22"/>
          <p:cNvSpPr txBox="true"/>
          <p:nvPr/>
        </p:nvSpPr>
        <p:spPr>
          <a:xfrm rot="0">
            <a:off x="1891600" y="6928668"/>
            <a:ext cx="961439" cy="845958"/>
          </a:xfrm>
          <a:prstGeom prst="rect">
            <a:avLst/>
          </a:prstGeom>
        </p:spPr>
        <p:txBody>
          <a:bodyPr anchor="t" rtlCol="false" tIns="0" lIns="0" bIns="0" rIns="0">
            <a:spAutoFit/>
          </a:bodyPr>
          <a:lstStyle/>
          <a:p>
            <a:pPr algn="ctr">
              <a:lnSpc>
                <a:spcPts val="6753"/>
              </a:lnSpc>
            </a:pPr>
            <a:r>
              <a:rPr lang="en-US" b="true" sz="5115" spc="567">
                <a:solidFill>
                  <a:srgbClr val="F2F8F7"/>
                </a:solidFill>
                <a:latin typeface="Raleway Bold"/>
                <a:ea typeface="Raleway Bold"/>
                <a:cs typeface="Raleway Bold"/>
                <a:sym typeface="Raleway Bold"/>
              </a:rPr>
              <a:t>3</a:t>
            </a:r>
          </a:p>
        </p:txBody>
      </p:sp>
      <p:grpSp>
        <p:nvGrpSpPr>
          <p:cNvPr name="Group 23" id="23"/>
          <p:cNvGrpSpPr/>
          <p:nvPr/>
        </p:nvGrpSpPr>
        <p:grpSpPr>
          <a:xfrm rot="0">
            <a:off x="1882075" y="8650746"/>
            <a:ext cx="970964" cy="992008"/>
            <a:chOff x="0" y="0"/>
            <a:chExt cx="574938" cy="587399"/>
          </a:xfrm>
        </p:grpSpPr>
        <p:sp>
          <p:nvSpPr>
            <p:cNvPr name="Freeform 24" id="24"/>
            <p:cNvSpPr/>
            <p:nvPr/>
          </p:nvSpPr>
          <p:spPr>
            <a:xfrm flipH="false" flipV="false" rot="0">
              <a:off x="0" y="0"/>
              <a:ext cx="574938" cy="587399"/>
            </a:xfrm>
            <a:custGeom>
              <a:avLst/>
              <a:gdLst/>
              <a:ahLst/>
              <a:cxnLst/>
              <a:rect r="r" b="b" t="t" l="l"/>
              <a:pathLst>
                <a:path h="587399" w="574938">
                  <a:moveTo>
                    <a:pt x="127575" y="0"/>
                  </a:moveTo>
                  <a:lnTo>
                    <a:pt x="447363" y="0"/>
                  </a:lnTo>
                  <a:cubicBezTo>
                    <a:pt x="517821" y="0"/>
                    <a:pt x="574938" y="57117"/>
                    <a:pt x="574938" y="127575"/>
                  </a:cubicBezTo>
                  <a:lnTo>
                    <a:pt x="574938" y="459824"/>
                  </a:lnTo>
                  <a:cubicBezTo>
                    <a:pt x="574938" y="493659"/>
                    <a:pt x="561497" y="526108"/>
                    <a:pt x="537572" y="550033"/>
                  </a:cubicBezTo>
                  <a:cubicBezTo>
                    <a:pt x="513647" y="573958"/>
                    <a:pt x="481198" y="587399"/>
                    <a:pt x="447363" y="587399"/>
                  </a:cubicBezTo>
                  <a:lnTo>
                    <a:pt x="127575" y="587399"/>
                  </a:lnTo>
                  <a:cubicBezTo>
                    <a:pt x="93740" y="587399"/>
                    <a:pt x="61291" y="573958"/>
                    <a:pt x="37366" y="550033"/>
                  </a:cubicBezTo>
                  <a:cubicBezTo>
                    <a:pt x="13441" y="526108"/>
                    <a:pt x="0" y="493659"/>
                    <a:pt x="0" y="459824"/>
                  </a:cubicBezTo>
                  <a:lnTo>
                    <a:pt x="0" y="127575"/>
                  </a:lnTo>
                  <a:cubicBezTo>
                    <a:pt x="0" y="93740"/>
                    <a:pt x="13441" y="61291"/>
                    <a:pt x="37366" y="37366"/>
                  </a:cubicBezTo>
                  <a:cubicBezTo>
                    <a:pt x="61291" y="13441"/>
                    <a:pt x="93740" y="0"/>
                    <a:pt x="127575" y="0"/>
                  </a:cubicBezTo>
                  <a:close/>
                </a:path>
              </a:pathLst>
            </a:custGeom>
            <a:solidFill>
              <a:srgbClr val="054B81"/>
            </a:solidFill>
            <a:ln cap="sq">
              <a:noFill/>
              <a:prstDash val="solid"/>
              <a:miter/>
            </a:ln>
          </p:spPr>
        </p:sp>
        <p:sp>
          <p:nvSpPr>
            <p:cNvPr name="TextBox 25" id="25"/>
            <p:cNvSpPr txBox="true"/>
            <p:nvPr/>
          </p:nvSpPr>
          <p:spPr>
            <a:xfrm>
              <a:off x="0" y="-47625"/>
              <a:ext cx="574938" cy="635024"/>
            </a:xfrm>
            <a:prstGeom prst="rect">
              <a:avLst/>
            </a:prstGeom>
          </p:spPr>
          <p:txBody>
            <a:bodyPr anchor="ctr" rtlCol="false" tIns="48876" lIns="48876" bIns="48876" rIns="48876"/>
            <a:lstStyle/>
            <a:p>
              <a:pPr algn="ctr">
                <a:lnSpc>
                  <a:spcPts val="1588"/>
                </a:lnSpc>
              </a:pPr>
            </a:p>
          </p:txBody>
        </p:sp>
      </p:grpSp>
      <p:sp>
        <p:nvSpPr>
          <p:cNvPr name="TextBox 26" id="26"/>
          <p:cNvSpPr txBox="true"/>
          <p:nvPr/>
        </p:nvSpPr>
        <p:spPr>
          <a:xfrm rot="0">
            <a:off x="1853500" y="8584071"/>
            <a:ext cx="961439" cy="845958"/>
          </a:xfrm>
          <a:prstGeom prst="rect">
            <a:avLst/>
          </a:prstGeom>
        </p:spPr>
        <p:txBody>
          <a:bodyPr anchor="t" rtlCol="false" tIns="0" lIns="0" bIns="0" rIns="0">
            <a:spAutoFit/>
          </a:bodyPr>
          <a:lstStyle/>
          <a:p>
            <a:pPr algn="ctr">
              <a:lnSpc>
                <a:spcPts val="6753"/>
              </a:lnSpc>
            </a:pPr>
            <a:r>
              <a:rPr lang="en-US" b="true" sz="5115" spc="567">
                <a:solidFill>
                  <a:srgbClr val="F2F8F7"/>
                </a:solidFill>
                <a:latin typeface="Raleway Bold"/>
                <a:ea typeface="Raleway Bold"/>
                <a:cs typeface="Raleway Bold"/>
                <a:sym typeface="Raleway Bold"/>
              </a:rPr>
              <a:t>4</a:t>
            </a:r>
          </a:p>
        </p:txBody>
      </p:sp>
      <p:grpSp>
        <p:nvGrpSpPr>
          <p:cNvPr name="Group 27" id="27"/>
          <p:cNvGrpSpPr/>
          <p:nvPr/>
        </p:nvGrpSpPr>
        <p:grpSpPr>
          <a:xfrm rot="0">
            <a:off x="8677568" y="4247186"/>
            <a:ext cx="970964" cy="992008"/>
            <a:chOff x="0" y="0"/>
            <a:chExt cx="574938" cy="587399"/>
          </a:xfrm>
        </p:grpSpPr>
        <p:sp>
          <p:nvSpPr>
            <p:cNvPr name="Freeform 28" id="28"/>
            <p:cNvSpPr/>
            <p:nvPr/>
          </p:nvSpPr>
          <p:spPr>
            <a:xfrm flipH="false" flipV="false" rot="0">
              <a:off x="0" y="0"/>
              <a:ext cx="574938" cy="587399"/>
            </a:xfrm>
            <a:custGeom>
              <a:avLst/>
              <a:gdLst/>
              <a:ahLst/>
              <a:cxnLst/>
              <a:rect r="r" b="b" t="t" l="l"/>
              <a:pathLst>
                <a:path h="587399" w="574938">
                  <a:moveTo>
                    <a:pt x="127575" y="0"/>
                  </a:moveTo>
                  <a:lnTo>
                    <a:pt x="447363" y="0"/>
                  </a:lnTo>
                  <a:cubicBezTo>
                    <a:pt x="517821" y="0"/>
                    <a:pt x="574938" y="57117"/>
                    <a:pt x="574938" y="127575"/>
                  </a:cubicBezTo>
                  <a:lnTo>
                    <a:pt x="574938" y="459824"/>
                  </a:lnTo>
                  <a:cubicBezTo>
                    <a:pt x="574938" y="493659"/>
                    <a:pt x="561497" y="526108"/>
                    <a:pt x="537572" y="550033"/>
                  </a:cubicBezTo>
                  <a:cubicBezTo>
                    <a:pt x="513647" y="573958"/>
                    <a:pt x="481198" y="587399"/>
                    <a:pt x="447363" y="587399"/>
                  </a:cubicBezTo>
                  <a:lnTo>
                    <a:pt x="127575" y="587399"/>
                  </a:lnTo>
                  <a:cubicBezTo>
                    <a:pt x="93740" y="587399"/>
                    <a:pt x="61291" y="573958"/>
                    <a:pt x="37366" y="550033"/>
                  </a:cubicBezTo>
                  <a:cubicBezTo>
                    <a:pt x="13441" y="526108"/>
                    <a:pt x="0" y="493659"/>
                    <a:pt x="0" y="459824"/>
                  </a:cubicBezTo>
                  <a:lnTo>
                    <a:pt x="0" y="127575"/>
                  </a:lnTo>
                  <a:cubicBezTo>
                    <a:pt x="0" y="93740"/>
                    <a:pt x="13441" y="61291"/>
                    <a:pt x="37366" y="37366"/>
                  </a:cubicBezTo>
                  <a:cubicBezTo>
                    <a:pt x="61291" y="13441"/>
                    <a:pt x="93740" y="0"/>
                    <a:pt x="127575" y="0"/>
                  </a:cubicBezTo>
                  <a:close/>
                </a:path>
              </a:pathLst>
            </a:custGeom>
            <a:solidFill>
              <a:srgbClr val="054B81"/>
            </a:solidFill>
            <a:ln cap="sq">
              <a:noFill/>
              <a:prstDash val="solid"/>
              <a:miter/>
            </a:ln>
          </p:spPr>
        </p:sp>
        <p:sp>
          <p:nvSpPr>
            <p:cNvPr name="TextBox 29" id="29"/>
            <p:cNvSpPr txBox="true"/>
            <p:nvPr/>
          </p:nvSpPr>
          <p:spPr>
            <a:xfrm>
              <a:off x="0" y="-47625"/>
              <a:ext cx="574938" cy="635024"/>
            </a:xfrm>
            <a:prstGeom prst="rect">
              <a:avLst/>
            </a:prstGeom>
          </p:spPr>
          <p:txBody>
            <a:bodyPr anchor="ctr" rtlCol="false" tIns="48876" lIns="48876" bIns="48876" rIns="48876"/>
            <a:lstStyle/>
            <a:p>
              <a:pPr algn="ctr">
                <a:lnSpc>
                  <a:spcPts val="1588"/>
                </a:lnSpc>
              </a:pPr>
            </a:p>
          </p:txBody>
        </p:sp>
      </p:grpSp>
      <p:sp>
        <p:nvSpPr>
          <p:cNvPr name="TextBox 30" id="30"/>
          <p:cNvSpPr txBox="true"/>
          <p:nvPr/>
        </p:nvSpPr>
        <p:spPr>
          <a:xfrm rot="0">
            <a:off x="8706143" y="4185268"/>
            <a:ext cx="961439" cy="845958"/>
          </a:xfrm>
          <a:prstGeom prst="rect">
            <a:avLst/>
          </a:prstGeom>
        </p:spPr>
        <p:txBody>
          <a:bodyPr anchor="t" rtlCol="false" tIns="0" lIns="0" bIns="0" rIns="0">
            <a:spAutoFit/>
          </a:bodyPr>
          <a:lstStyle/>
          <a:p>
            <a:pPr algn="ctr">
              <a:lnSpc>
                <a:spcPts val="6753"/>
              </a:lnSpc>
            </a:pPr>
            <a:r>
              <a:rPr lang="en-US" b="true" sz="5115" spc="567">
                <a:solidFill>
                  <a:srgbClr val="F2F8F7"/>
                </a:solidFill>
                <a:latin typeface="Raleway Bold"/>
                <a:ea typeface="Raleway Bold"/>
                <a:cs typeface="Raleway Bold"/>
                <a:sym typeface="Raleway Bold"/>
              </a:rPr>
              <a:t>5</a:t>
            </a:r>
          </a:p>
        </p:txBody>
      </p:sp>
      <p:grpSp>
        <p:nvGrpSpPr>
          <p:cNvPr name="Group 31" id="31"/>
          <p:cNvGrpSpPr/>
          <p:nvPr/>
        </p:nvGrpSpPr>
        <p:grpSpPr>
          <a:xfrm rot="0">
            <a:off x="8627873" y="6109697"/>
            <a:ext cx="970964" cy="992008"/>
            <a:chOff x="0" y="0"/>
            <a:chExt cx="574938" cy="587399"/>
          </a:xfrm>
        </p:grpSpPr>
        <p:sp>
          <p:nvSpPr>
            <p:cNvPr name="Freeform 32" id="32"/>
            <p:cNvSpPr/>
            <p:nvPr/>
          </p:nvSpPr>
          <p:spPr>
            <a:xfrm flipH="false" flipV="false" rot="0">
              <a:off x="0" y="0"/>
              <a:ext cx="574938" cy="587399"/>
            </a:xfrm>
            <a:custGeom>
              <a:avLst/>
              <a:gdLst/>
              <a:ahLst/>
              <a:cxnLst/>
              <a:rect r="r" b="b" t="t" l="l"/>
              <a:pathLst>
                <a:path h="587399" w="574938">
                  <a:moveTo>
                    <a:pt x="127575" y="0"/>
                  </a:moveTo>
                  <a:lnTo>
                    <a:pt x="447363" y="0"/>
                  </a:lnTo>
                  <a:cubicBezTo>
                    <a:pt x="517821" y="0"/>
                    <a:pt x="574938" y="57117"/>
                    <a:pt x="574938" y="127575"/>
                  </a:cubicBezTo>
                  <a:lnTo>
                    <a:pt x="574938" y="459824"/>
                  </a:lnTo>
                  <a:cubicBezTo>
                    <a:pt x="574938" y="493659"/>
                    <a:pt x="561497" y="526108"/>
                    <a:pt x="537572" y="550033"/>
                  </a:cubicBezTo>
                  <a:cubicBezTo>
                    <a:pt x="513647" y="573958"/>
                    <a:pt x="481198" y="587399"/>
                    <a:pt x="447363" y="587399"/>
                  </a:cubicBezTo>
                  <a:lnTo>
                    <a:pt x="127575" y="587399"/>
                  </a:lnTo>
                  <a:cubicBezTo>
                    <a:pt x="93740" y="587399"/>
                    <a:pt x="61291" y="573958"/>
                    <a:pt x="37366" y="550033"/>
                  </a:cubicBezTo>
                  <a:cubicBezTo>
                    <a:pt x="13441" y="526108"/>
                    <a:pt x="0" y="493659"/>
                    <a:pt x="0" y="459824"/>
                  </a:cubicBezTo>
                  <a:lnTo>
                    <a:pt x="0" y="127575"/>
                  </a:lnTo>
                  <a:cubicBezTo>
                    <a:pt x="0" y="93740"/>
                    <a:pt x="13441" y="61291"/>
                    <a:pt x="37366" y="37366"/>
                  </a:cubicBezTo>
                  <a:cubicBezTo>
                    <a:pt x="61291" y="13441"/>
                    <a:pt x="93740" y="0"/>
                    <a:pt x="127575" y="0"/>
                  </a:cubicBezTo>
                  <a:close/>
                </a:path>
              </a:pathLst>
            </a:custGeom>
            <a:solidFill>
              <a:srgbClr val="054B81"/>
            </a:solidFill>
            <a:ln cap="sq">
              <a:noFill/>
              <a:prstDash val="solid"/>
              <a:miter/>
            </a:ln>
          </p:spPr>
        </p:sp>
        <p:sp>
          <p:nvSpPr>
            <p:cNvPr name="TextBox 33" id="33"/>
            <p:cNvSpPr txBox="true"/>
            <p:nvPr/>
          </p:nvSpPr>
          <p:spPr>
            <a:xfrm>
              <a:off x="0" y="-47625"/>
              <a:ext cx="574938" cy="635024"/>
            </a:xfrm>
            <a:prstGeom prst="rect">
              <a:avLst/>
            </a:prstGeom>
          </p:spPr>
          <p:txBody>
            <a:bodyPr anchor="ctr" rtlCol="false" tIns="48876" lIns="48876" bIns="48876" rIns="48876"/>
            <a:lstStyle/>
            <a:p>
              <a:pPr algn="ctr">
                <a:lnSpc>
                  <a:spcPts val="1588"/>
                </a:lnSpc>
              </a:pPr>
            </a:p>
          </p:txBody>
        </p:sp>
      </p:grpSp>
      <p:sp>
        <p:nvSpPr>
          <p:cNvPr name="TextBox 34" id="34"/>
          <p:cNvSpPr txBox="true"/>
          <p:nvPr/>
        </p:nvSpPr>
        <p:spPr>
          <a:xfrm rot="0">
            <a:off x="8637398" y="6149385"/>
            <a:ext cx="961439" cy="845958"/>
          </a:xfrm>
          <a:prstGeom prst="rect">
            <a:avLst/>
          </a:prstGeom>
        </p:spPr>
        <p:txBody>
          <a:bodyPr anchor="t" rtlCol="false" tIns="0" lIns="0" bIns="0" rIns="0">
            <a:spAutoFit/>
          </a:bodyPr>
          <a:lstStyle/>
          <a:p>
            <a:pPr algn="ctr">
              <a:lnSpc>
                <a:spcPts val="6753"/>
              </a:lnSpc>
            </a:pPr>
            <a:r>
              <a:rPr lang="en-US" b="true" sz="5115" spc="567">
                <a:solidFill>
                  <a:srgbClr val="F2F8F7"/>
                </a:solidFill>
                <a:latin typeface="Raleway Bold"/>
                <a:ea typeface="Raleway Bold"/>
                <a:cs typeface="Raleway Bold"/>
                <a:sym typeface="Raleway Bold"/>
              </a:rPr>
              <a:t>6</a:t>
            </a:r>
          </a:p>
        </p:txBody>
      </p:sp>
      <p:sp>
        <p:nvSpPr>
          <p:cNvPr name="TextBox 35" id="35"/>
          <p:cNvSpPr txBox="true"/>
          <p:nvPr/>
        </p:nvSpPr>
        <p:spPr>
          <a:xfrm rot="0">
            <a:off x="3178993" y="5579653"/>
            <a:ext cx="4767744" cy="401535"/>
          </a:xfrm>
          <a:prstGeom prst="rect">
            <a:avLst/>
          </a:prstGeom>
        </p:spPr>
        <p:txBody>
          <a:bodyPr anchor="t" rtlCol="false" tIns="0" lIns="0" bIns="0" rIns="0">
            <a:spAutoFit/>
          </a:bodyPr>
          <a:lstStyle/>
          <a:p>
            <a:pPr algn="l">
              <a:lnSpc>
                <a:spcPts val="3171"/>
              </a:lnSpc>
            </a:pPr>
            <a:r>
              <a:rPr lang="en-US" sz="2402">
                <a:solidFill>
                  <a:srgbClr val="042239"/>
                </a:solidFill>
                <a:latin typeface="Raleway"/>
                <a:ea typeface="Raleway"/>
                <a:cs typeface="Raleway"/>
                <a:sym typeface="Raleway"/>
              </a:rPr>
              <a:t>Problematica</a:t>
            </a:r>
          </a:p>
        </p:txBody>
      </p:sp>
      <p:sp>
        <p:nvSpPr>
          <p:cNvPr name="TextBox 36" id="36"/>
          <p:cNvSpPr txBox="true"/>
          <p:nvPr/>
        </p:nvSpPr>
        <p:spPr>
          <a:xfrm rot="0">
            <a:off x="9867331" y="6385884"/>
            <a:ext cx="5648623" cy="401535"/>
          </a:xfrm>
          <a:prstGeom prst="rect">
            <a:avLst/>
          </a:prstGeom>
        </p:spPr>
        <p:txBody>
          <a:bodyPr anchor="t" rtlCol="false" tIns="0" lIns="0" bIns="0" rIns="0">
            <a:spAutoFit/>
          </a:bodyPr>
          <a:lstStyle/>
          <a:p>
            <a:pPr algn="l">
              <a:lnSpc>
                <a:spcPts val="3171"/>
              </a:lnSpc>
            </a:pPr>
            <a:r>
              <a:rPr lang="en-US" sz="2402">
                <a:solidFill>
                  <a:srgbClr val="042239"/>
                </a:solidFill>
                <a:latin typeface="Raleway"/>
                <a:ea typeface="Raleway"/>
                <a:cs typeface="Raleway"/>
                <a:sym typeface="Raleway"/>
              </a:rPr>
              <a:t>Solución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3201"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2269483" y="2776666"/>
            <a:ext cx="13749033" cy="1931108"/>
          </a:xfrm>
          <a:prstGeom prst="rect">
            <a:avLst/>
          </a:prstGeom>
        </p:spPr>
        <p:txBody>
          <a:bodyPr anchor="t" rtlCol="false" tIns="0" lIns="0" bIns="0" rIns="0">
            <a:spAutoFit/>
          </a:bodyPr>
          <a:lstStyle/>
          <a:p>
            <a:pPr algn="ctr">
              <a:lnSpc>
                <a:spcPts val="15741"/>
              </a:lnSpc>
            </a:pPr>
            <a:r>
              <a:rPr lang="en-US" sz="11243" spc="685">
                <a:solidFill>
                  <a:srgbClr val="042239"/>
                </a:solidFill>
                <a:latin typeface="Montserrat"/>
                <a:ea typeface="Montserrat"/>
                <a:cs typeface="Montserrat"/>
                <a:sym typeface="Montserrat"/>
              </a:rPr>
              <a:t>Introducción</a:t>
            </a:r>
          </a:p>
        </p:txBody>
      </p:sp>
      <p:sp>
        <p:nvSpPr>
          <p:cNvPr name="TextBox 10" id="10"/>
          <p:cNvSpPr txBox="true"/>
          <p:nvPr/>
        </p:nvSpPr>
        <p:spPr>
          <a:xfrm rot="0">
            <a:off x="4515651" y="5830062"/>
            <a:ext cx="9394780" cy="1664640"/>
          </a:xfrm>
          <a:prstGeom prst="rect">
            <a:avLst/>
          </a:prstGeom>
        </p:spPr>
        <p:txBody>
          <a:bodyPr anchor="t" rtlCol="false" tIns="0" lIns="0" bIns="0" rIns="0">
            <a:spAutoFit/>
          </a:bodyPr>
          <a:lstStyle/>
          <a:p>
            <a:pPr algn="ctr" marL="0" indent="0" lvl="0">
              <a:lnSpc>
                <a:spcPts val="3326"/>
              </a:lnSpc>
            </a:pPr>
            <a:r>
              <a:rPr lang="en-US" sz="2132">
                <a:solidFill>
                  <a:srgbClr val="042239"/>
                </a:solidFill>
                <a:latin typeface="Raleway"/>
                <a:ea typeface="Raleway"/>
                <a:cs typeface="Raleway"/>
                <a:sym typeface="Raleway"/>
              </a:rPr>
              <a:t>Patitas en Busca de un Hogar es un programa principalmente diseñado para facilitar la administracion de un refugio de mascotas. El objetivo de mi proyecto es mantener organizado la información de las mascotas, controlar las adopciones y mantener cada registro ordenado</a:t>
            </a:r>
          </a:p>
        </p:txBody>
      </p:sp>
      <p:sp>
        <p:nvSpPr>
          <p:cNvPr name="TextBox 11" id="11"/>
          <p:cNvSpPr txBox="true"/>
          <p:nvPr/>
        </p:nvSpPr>
        <p:spPr>
          <a:xfrm rot="0">
            <a:off x="3716204" y="5086350"/>
            <a:ext cx="10855592" cy="391287"/>
          </a:xfrm>
          <a:prstGeom prst="rect">
            <a:avLst/>
          </a:prstGeom>
        </p:spPr>
        <p:txBody>
          <a:bodyPr anchor="t" rtlCol="false" tIns="0" lIns="0" bIns="0" rIns="0">
            <a:spAutoFit/>
          </a:bodyPr>
          <a:lstStyle/>
          <a:p>
            <a:pPr algn="ctr" marL="0" indent="0" lvl="0">
              <a:lnSpc>
                <a:spcPts val="3108"/>
              </a:lnSpc>
              <a:spcBef>
                <a:spcPct val="0"/>
              </a:spcBef>
            </a:pPr>
            <a:r>
              <a:rPr lang="en-US" b="true" sz="2220" spc="159">
                <a:solidFill>
                  <a:srgbClr val="042239"/>
                </a:solidFill>
                <a:latin typeface="Raleway Bold"/>
                <a:ea typeface="Raleway Bold"/>
                <a:cs typeface="Raleway Bold"/>
                <a:sym typeface="Raleway Bold"/>
              </a:rPr>
              <a:t>¿Qué es Patitas en Busca de un Hogar?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7799" y="697368"/>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1565992" y="1966604"/>
            <a:ext cx="15156017" cy="1234211"/>
          </a:xfrm>
          <a:prstGeom prst="rect">
            <a:avLst/>
          </a:prstGeom>
        </p:spPr>
        <p:txBody>
          <a:bodyPr anchor="t" rtlCol="false" tIns="0" lIns="0" bIns="0" rIns="0">
            <a:spAutoFit/>
          </a:bodyPr>
          <a:lstStyle/>
          <a:p>
            <a:pPr algn="ctr">
              <a:lnSpc>
                <a:spcPts val="9412"/>
              </a:lnSpc>
            </a:pPr>
            <a:r>
              <a:rPr lang="en-US" sz="8880" b="true">
                <a:solidFill>
                  <a:srgbClr val="042239"/>
                </a:solidFill>
                <a:latin typeface="Montserrat Semi-Bold"/>
                <a:ea typeface="Montserrat Semi-Bold"/>
                <a:cs typeface="Montserrat Semi-Bold"/>
                <a:sym typeface="Montserrat Semi-Bold"/>
              </a:rPr>
              <a:t>Problematica</a:t>
            </a:r>
          </a:p>
        </p:txBody>
      </p:sp>
      <p:sp>
        <p:nvSpPr>
          <p:cNvPr name="TextBox 10" id="10"/>
          <p:cNvSpPr txBox="true"/>
          <p:nvPr/>
        </p:nvSpPr>
        <p:spPr>
          <a:xfrm rot="0">
            <a:off x="3262460" y="3717829"/>
            <a:ext cx="11930358" cy="4189992"/>
          </a:xfrm>
          <a:prstGeom prst="rect">
            <a:avLst/>
          </a:prstGeom>
        </p:spPr>
        <p:txBody>
          <a:bodyPr anchor="t" rtlCol="false" tIns="0" lIns="0" bIns="0" rIns="0">
            <a:spAutoFit/>
          </a:bodyPr>
          <a:lstStyle/>
          <a:p>
            <a:pPr algn="just">
              <a:lnSpc>
                <a:spcPts val="4191"/>
              </a:lnSpc>
            </a:pPr>
            <a:r>
              <a:rPr lang="en-US" sz="2994">
                <a:solidFill>
                  <a:srgbClr val="042239"/>
                </a:solidFill>
                <a:latin typeface="Raleway Light"/>
                <a:ea typeface="Raleway Light"/>
                <a:cs typeface="Raleway Light"/>
                <a:sym typeface="Raleway Light"/>
              </a:rPr>
              <a:t>Muchos refugios de animales administran su información de forma manual, utilizando cuadernos, hojas de cálculo o archivos separados. Esto dificulta llevar un control adecuado de los animales, las adopciones, las vacunas, las donaciones y las personas que colaboran con el refugio.</a:t>
            </a:r>
          </a:p>
          <a:p>
            <a:pPr algn="just">
              <a:lnSpc>
                <a:spcPts val="4191"/>
              </a:lnSpc>
            </a:pPr>
          </a:p>
          <a:p>
            <a:pPr algn="just">
              <a:lnSpc>
                <a:spcPts val="4191"/>
              </a:lnSpc>
            </a:pPr>
            <a:r>
              <a:rPr lang="en-US" sz="2994">
                <a:solidFill>
                  <a:srgbClr val="042239"/>
                </a:solidFill>
                <a:latin typeface="Raleway Light"/>
                <a:ea typeface="Raleway Light"/>
                <a:cs typeface="Raleway Light"/>
                <a:sym typeface="Raleway Light"/>
              </a:rPr>
              <a:t>Como consecuencia, pueden presentarse errores, pérdida de inform</a:t>
            </a:r>
            <a:r>
              <a:rPr lang="en-US" sz="2994">
                <a:solidFill>
                  <a:srgbClr val="042239"/>
                </a:solidFill>
                <a:latin typeface="Raleway Light"/>
                <a:ea typeface="Raleway Light"/>
                <a:cs typeface="Raleway Light"/>
                <a:sym typeface="Raleway Light"/>
              </a:rPr>
              <a:t>ación y demoras al buscar o actualizar los registros.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4159"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true" flipV="false" rot="-10800000">
            <a:off x="483953" y="587744"/>
            <a:ext cx="8184045" cy="9111512"/>
          </a:xfrm>
          <a:custGeom>
            <a:avLst/>
            <a:gdLst/>
            <a:ahLst/>
            <a:cxnLst/>
            <a:rect r="r" b="b" t="t" l="l"/>
            <a:pathLst>
              <a:path h="9111512" w="8184045">
                <a:moveTo>
                  <a:pt x="8184045" y="0"/>
                </a:moveTo>
                <a:lnTo>
                  <a:pt x="0" y="0"/>
                </a:lnTo>
                <a:lnTo>
                  <a:pt x="0" y="9111512"/>
                </a:lnTo>
                <a:lnTo>
                  <a:pt x="8184045" y="9111512"/>
                </a:lnTo>
                <a:lnTo>
                  <a:pt x="8184045" y="0"/>
                </a:lnTo>
                <a:close/>
              </a:path>
            </a:pathLst>
          </a:custGeom>
          <a:blipFill>
            <a:blip r:embed="rId2"/>
            <a:stretch>
              <a:fillRect l="0" t="-2705" r="0" b="0"/>
            </a:stretch>
          </a:blipFill>
        </p:spPr>
      </p:sp>
      <p:sp>
        <p:nvSpPr>
          <p:cNvPr name="Freeform 6" id="6"/>
          <p:cNvSpPr/>
          <p:nvPr/>
        </p:nvSpPr>
        <p:spPr>
          <a:xfrm flipH="false" flipV="false" rot="0">
            <a:off x="10476932" y="666117"/>
            <a:ext cx="4753657" cy="2376829"/>
          </a:xfrm>
          <a:custGeom>
            <a:avLst/>
            <a:gdLst/>
            <a:ahLst/>
            <a:cxnLst/>
            <a:rect r="r" b="b" t="t" l="l"/>
            <a:pathLst>
              <a:path h="2376829" w="4753657">
                <a:moveTo>
                  <a:pt x="0" y="0"/>
                </a:moveTo>
                <a:lnTo>
                  <a:pt x="4753657" y="0"/>
                </a:lnTo>
                <a:lnTo>
                  <a:pt x="4753657" y="2376829"/>
                </a:lnTo>
                <a:lnTo>
                  <a:pt x="0" y="2376829"/>
                </a:lnTo>
                <a:lnTo>
                  <a:pt x="0" y="0"/>
                </a:lnTo>
                <a:close/>
              </a:path>
            </a:pathLst>
          </a:custGeom>
          <a:blipFill>
            <a:blip r:embed="rId3"/>
            <a:stretch>
              <a:fillRect l="0" t="0" r="0" b="0"/>
            </a:stretch>
          </a:blipFill>
        </p:spPr>
      </p:sp>
      <p:sp>
        <p:nvSpPr>
          <p:cNvPr name="Freeform 7" id="7"/>
          <p:cNvSpPr/>
          <p:nvPr/>
        </p:nvSpPr>
        <p:spPr>
          <a:xfrm flipH="false" flipV="false" rot="0">
            <a:off x="12323093" y="3419937"/>
            <a:ext cx="5211177" cy="2597156"/>
          </a:xfrm>
          <a:custGeom>
            <a:avLst/>
            <a:gdLst/>
            <a:ahLst/>
            <a:cxnLst/>
            <a:rect r="r" b="b" t="t" l="l"/>
            <a:pathLst>
              <a:path h="2597156" w="5211177">
                <a:moveTo>
                  <a:pt x="0" y="0"/>
                </a:moveTo>
                <a:lnTo>
                  <a:pt x="5211177" y="0"/>
                </a:lnTo>
                <a:lnTo>
                  <a:pt x="5211177" y="2597157"/>
                </a:lnTo>
                <a:lnTo>
                  <a:pt x="0" y="2597157"/>
                </a:lnTo>
                <a:lnTo>
                  <a:pt x="0" y="0"/>
                </a:lnTo>
                <a:close/>
              </a:path>
            </a:pathLst>
          </a:custGeom>
          <a:blipFill>
            <a:blip r:embed="rId4"/>
            <a:stretch>
              <a:fillRect l="0" t="0" r="0" b="0"/>
            </a:stretch>
          </a:blipFill>
        </p:spPr>
      </p:sp>
      <p:sp>
        <p:nvSpPr>
          <p:cNvPr name="Freeform 8" id="8"/>
          <p:cNvSpPr/>
          <p:nvPr/>
        </p:nvSpPr>
        <p:spPr>
          <a:xfrm flipH="false" flipV="false" rot="0">
            <a:off x="483953" y="1303747"/>
            <a:ext cx="4484758" cy="2995528"/>
          </a:xfrm>
          <a:custGeom>
            <a:avLst/>
            <a:gdLst/>
            <a:ahLst/>
            <a:cxnLst/>
            <a:rect r="r" b="b" t="t" l="l"/>
            <a:pathLst>
              <a:path h="2995528" w="4484758">
                <a:moveTo>
                  <a:pt x="0" y="0"/>
                </a:moveTo>
                <a:lnTo>
                  <a:pt x="4484758" y="0"/>
                </a:lnTo>
                <a:lnTo>
                  <a:pt x="4484758" y="2995528"/>
                </a:lnTo>
                <a:lnTo>
                  <a:pt x="0" y="2995528"/>
                </a:lnTo>
                <a:lnTo>
                  <a:pt x="0" y="0"/>
                </a:lnTo>
                <a:close/>
              </a:path>
            </a:pathLst>
          </a:custGeom>
          <a:blipFill>
            <a:blip r:embed="rId5"/>
            <a:stretch>
              <a:fillRect l="0" t="0" r="0" b="0"/>
            </a:stretch>
          </a:blipFill>
        </p:spPr>
      </p:sp>
      <p:sp>
        <p:nvSpPr>
          <p:cNvPr name="TextBox 9" id="9"/>
          <p:cNvSpPr txBox="true"/>
          <p:nvPr/>
        </p:nvSpPr>
        <p:spPr>
          <a:xfrm rot="0">
            <a:off x="5065222" y="2085554"/>
            <a:ext cx="8295638" cy="1913202"/>
          </a:xfrm>
          <a:prstGeom prst="rect">
            <a:avLst/>
          </a:prstGeom>
        </p:spPr>
        <p:txBody>
          <a:bodyPr anchor="t" rtlCol="false" tIns="0" lIns="0" bIns="0" rIns="0">
            <a:spAutoFit/>
          </a:bodyPr>
          <a:lstStyle/>
          <a:p>
            <a:pPr algn="l">
              <a:lnSpc>
                <a:spcPts val="7568"/>
              </a:lnSpc>
            </a:pPr>
            <a:r>
              <a:rPr lang="en-US" sz="6255" spc="381">
                <a:solidFill>
                  <a:srgbClr val="042239"/>
                </a:solidFill>
                <a:latin typeface="Montserrat"/>
                <a:ea typeface="Montserrat"/>
                <a:cs typeface="Montserrat"/>
                <a:sym typeface="Montserrat"/>
              </a:rPr>
              <a:t>Tecnologías</a:t>
            </a:r>
          </a:p>
          <a:p>
            <a:pPr algn="l">
              <a:lnSpc>
                <a:spcPts val="7568"/>
              </a:lnSpc>
            </a:pPr>
            <a:r>
              <a:rPr lang="en-US" sz="6255" spc="381">
                <a:solidFill>
                  <a:srgbClr val="042239"/>
                </a:solidFill>
                <a:latin typeface="Montserrat"/>
                <a:ea typeface="Montserrat"/>
                <a:cs typeface="Montserrat"/>
                <a:sym typeface="Montserrat"/>
              </a:rPr>
              <a:t>Utilizadas</a:t>
            </a:r>
          </a:p>
        </p:txBody>
      </p:sp>
      <p:sp>
        <p:nvSpPr>
          <p:cNvPr name="TextBox 10" id="10"/>
          <p:cNvSpPr txBox="true"/>
          <p:nvPr/>
        </p:nvSpPr>
        <p:spPr>
          <a:xfrm rot="0">
            <a:off x="4968711" y="4204025"/>
            <a:ext cx="6633482" cy="4212574"/>
          </a:xfrm>
          <a:prstGeom prst="rect">
            <a:avLst/>
          </a:prstGeom>
        </p:spPr>
        <p:txBody>
          <a:bodyPr anchor="t" rtlCol="false" tIns="0" lIns="0" bIns="0" rIns="0">
            <a:spAutoFit/>
          </a:bodyPr>
          <a:lstStyle/>
          <a:p>
            <a:pPr algn="l" marL="1031056" indent="-515528" lvl="1">
              <a:lnSpc>
                <a:spcPts val="6685"/>
              </a:lnSpc>
              <a:buFont typeface="Arial"/>
              <a:buChar char="•"/>
            </a:pPr>
            <a:r>
              <a:rPr lang="en-US" sz="4775">
                <a:solidFill>
                  <a:srgbClr val="042239"/>
                </a:solidFill>
                <a:latin typeface="Raleway"/>
                <a:ea typeface="Raleway"/>
                <a:cs typeface="Raleway"/>
                <a:sym typeface="Raleway"/>
              </a:rPr>
              <a:t>Node.js</a:t>
            </a:r>
          </a:p>
          <a:p>
            <a:pPr algn="l" marL="1031056" indent="-515528" lvl="1">
              <a:lnSpc>
                <a:spcPts val="6685"/>
              </a:lnSpc>
              <a:buFont typeface="Arial"/>
              <a:buChar char="•"/>
            </a:pPr>
            <a:r>
              <a:rPr lang="en-US" sz="4775">
                <a:solidFill>
                  <a:srgbClr val="042239"/>
                </a:solidFill>
                <a:latin typeface="Raleway"/>
                <a:ea typeface="Raleway"/>
                <a:cs typeface="Raleway"/>
                <a:sym typeface="Raleway"/>
              </a:rPr>
              <a:t>TypeScript</a:t>
            </a:r>
          </a:p>
          <a:p>
            <a:pPr algn="l" marL="1031056" indent="-515528" lvl="1">
              <a:lnSpc>
                <a:spcPts val="6685"/>
              </a:lnSpc>
              <a:buFont typeface="Arial"/>
              <a:buChar char="•"/>
            </a:pPr>
            <a:r>
              <a:rPr lang="en-US" sz="4775">
                <a:solidFill>
                  <a:srgbClr val="042239"/>
                </a:solidFill>
                <a:latin typeface="Raleway"/>
                <a:ea typeface="Raleway"/>
                <a:cs typeface="Raleway"/>
                <a:sym typeface="Raleway"/>
              </a:rPr>
              <a:t>Visual Studio Code</a:t>
            </a:r>
          </a:p>
          <a:p>
            <a:pPr algn="l" marL="1031056" indent="-515528" lvl="1">
              <a:lnSpc>
                <a:spcPts val="6685"/>
              </a:lnSpc>
              <a:buFont typeface="Arial"/>
              <a:buChar char="•"/>
            </a:pPr>
            <a:r>
              <a:rPr lang="en-US" sz="4775">
                <a:solidFill>
                  <a:srgbClr val="042239"/>
                </a:solidFill>
                <a:latin typeface="Raleway"/>
                <a:ea typeface="Raleway"/>
                <a:cs typeface="Raleway"/>
                <a:sym typeface="Raleway"/>
              </a:rPr>
              <a:t>JSON</a:t>
            </a:r>
          </a:p>
          <a:p>
            <a:pPr algn="l" marL="1031056" indent="-515528" lvl="1">
              <a:lnSpc>
                <a:spcPts val="6685"/>
              </a:lnSpc>
              <a:buFont typeface="Arial"/>
              <a:buChar char="•"/>
            </a:pPr>
            <a:r>
              <a:rPr lang="en-US" sz="4775">
                <a:solidFill>
                  <a:srgbClr val="042239"/>
                </a:solidFill>
                <a:latin typeface="Raleway"/>
                <a:ea typeface="Raleway"/>
                <a:cs typeface="Raleway"/>
                <a:sym typeface="Raleway"/>
              </a:rPr>
              <a:t>MySQL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7799"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1191261" y="2777827"/>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Animales</a:t>
            </a:r>
          </a:p>
        </p:txBody>
      </p:sp>
      <p:sp>
        <p:nvSpPr>
          <p:cNvPr name="TextBox 10" id="10"/>
          <p:cNvSpPr txBox="true"/>
          <p:nvPr/>
        </p:nvSpPr>
        <p:spPr>
          <a:xfrm rot="0">
            <a:off x="1413306" y="1143000"/>
            <a:ext cx="15156017" cy="1234211"/>
          </a:xfrm>
          <a:prstGeom prst="rect">
            <a:avLst/>
          </a:prstGeom>
        </p:spPr>
        <p:txBody>
          <a:bodyPr anchor="t" rtlCol="false" tIns="0" lIns="0" bIns="0" rIns="0">
            <a:spAutoFit/>
          </a:bodyPr>
          <a:lstStyle/>
          <a:p>
            <a:pPr algn="ctr">
              <a:lnSpc>
                <a:spcPts val="9412"/>
              </a:lnSpc>
            </a:pPr>
            <a:r>
              <a:rPr lang="en-US" sz="8880" b="true">
                <a:solidFill>
                  <a:srgbClr val="042239"/>
                </a:solidFill>
                <a:latin typeface="Montserrat Semi-Bold"/>
                <a:ea typeface="Montserrat Semi-Bold"/>
                <a:cs typeface="Montserrat Semi-Bold"/>
                <a:sym typeface="Montserrat Semi-Bold"/>
              </a:rPr>
              <a:t>Entidades</a:t>
            </a:r>
          </a:p>
        </p:txBody>
      </p:sp>
      <p:sp>
        <p:nvSpPr>
          <p:cNvPr name="TextBox 11" id="11"/>
          <p:cNvSpPr txBox="true"/>
          <p:nvPr/>
        </p:nvSpPr>
        <p:spPr>
          <a:xfrm rot="0">
            <a:off x="1028700" y="3430943"/>
            <a:ext cx="4161314" cy="1712557"/>
          </a:xfrm>
          <a:prstGeom prst="rect">
            <a:avLst/>
          </a:prstGeom>
        </p:spPr>
        <p:txBody>
          <a:bodyPr anchor="t" rtlCol="false" tIns="0" lIns="0" bIns="0" rIns="0">
            <a:spAutoFit/>
          </a:bodyPr>
          <a:lstStyle/>
          <a:p>
            <a:pPr algn="l" marL="421326" indent="-210663" lvl="1">
              <a:lnSpc>
                <a:spcPts val="2732"/>
              </a:lnSpc>
              <a:buFont typeface="Arial"/>
              <a:buChar char="•"/>
            </a:pPr>
            <a:r>
              <a:rPr lang="en-US" sz="1951">
                <a:solidFill>
                  <a:srgbClr val="042239"/>
                </a:solidFill>
                <a:latin typeface="Raleway Light"/>
                <a:ea typeface="Raleway Light"/>
                <a:cs typeface="Raleway Light"/>
                <a:sym typeface="Raleway Light"/>
              </a:rPr>
              <a:t>Almacena la información de cada mascota del refugio, como su nombre, edad, sexo, estado, especie, raza</a:t>
            </a:r>
            <a:r>
              <a:rPr lang="en-US" sz="1951">
                <a:solidFill>
                  <a:srgbClr val="042239"/>
                </a:solidFill>
                <a:latin typeface="Raleway Light"/>
                <a:ea typeface="Raleway Light"/>
                <a:cs typeface="Raleway Light"/>
                <a:sym typeface="Raleway Light"/>
              </a:rPr>
              <a:t> y refugio al que pertenece.</a:t>
            </a:r>
          </a:p>
        </p:txBody>
      </p:sp>
      <p:sp>
        <p:nvSpPr>
          <p:cNvPr name="TextBox 12" id="12"/>
          <p:cNvSpPr txBox="true"/>
          <p:nvPr/>
        </p:nvSpPr>
        <p:spPr>
          <a:xfrm rot="0">
            <a:off x="6532669" y="2777827"/>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Especie</a:t>
            </a:r>
          </a:p>
        </p:txBody>
      </p:sp>
      <p:sp>
        <p:nvSpPr>
          <p:cNvPr name="TextBox 13" id="13"/>
          <p:cNvSpPr txBox="true"/>
          <p:nvPr/>
        </p:nvSpPr>
        <p:spPr>
          <a:xfrm rot="0">
            <a:off x="6416002" y="3430943"/>
            <a:ext cx="4161314" cy="6838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Clasifica a los animales según su tipo, por ejemplo, perro o gato.</a:t>
            </a:r>
          </a:p>
        </p:txBody>
      </p:sp>
      <p:sp>
        <p:nvSpPr>
          <p:cNvPr name="TextBox 14" id="14"/>
          <p:cNvSpPr txBox="true"/>
          <p:nvPr/>
        </p:nvSpPr>
        <p:spPr>
          <a:xfrm rot="0">
            <a:off x="12572898" y="5857345"/>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Adoptante</a:t>
            </a:r>
          </a:p>
        </p:txBody>
      </p:sp>
      <p:sp>
        <p:nvSpPr>
          <p:cNvPr name="TextBox 15" id="15"/>
          <p:cNvSpPr txBox="true"/>
          <p:nvPr/>
        </p:nvSpPr>
        <p:spPr>
          <a:xfrm rot="0">
            <a:off x="6826655" y="5953039"/>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Veterinario</a:t>
            </a:r>
          </a:p>
        </p:txBody>
      </p:sp>
      <p:sp>
        <p:nvSpPr>
          <p:cNvPr name="TextBox 16" id="16"/>
          <p:cNvSpPr txBox="true"/>
          <p:nvPr/>
        </p:nvSpPr>
        <p:spPr>
          <a:xfrm rot="0">
            <a:off x="1413306" y="5953039"/>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Refugio</a:t>
            </a:r>
          </a:p>
        </p:txBody>
      </p:sp>
      <p:sp>
        <p:nvSpPr>
          <p:cNvPr name="TextBox 17" id="17"/>
          <p:cNvSpPr txBox="true"/>
          <p:nvPr/>
        </p:nvSpPr>
        <p:spPr>
          <a:xfrm rot="0">
            <a:off x="12572898" y="2777827"/>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Raza</a:t>
            </a:r>
          </a:p>
        </p:txBody>
      </p:sp>
      <p:sp>
        <p:nvSpPr>
          <p:cNvPr name="TextBox 18" id="18"/>
          <p:cNvSpPr txBox="true"/>
          <p:nvPr/>
        </p:nvSpPr>
        <p:spPr>
          <a:xfrm rot="0">
            <a:off x="12408010" y="6553338"/>
            <a:ext cx="4161314" cy="10267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Registra la información de las personas que desean adoptar una mascota.</a:t>
            </a:r>
          </a:p>
        </p:txBody>
      </p:sp>
      <p:sp>
        <p:nvSpPr>
          <p:cNvPr name="TextBox 19" id="19"/>
          <p:cNvSpPr txBox="true"/>
          <p:nvPr/>
        </p:nvSpPr>
        <p:spPr>
          <a:xfrm rot="0">
            <a:off x="12408010" y="3455045"/>
            <a:ext cx="4161314" cy="10267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Registra la raza de cada animal, permitiendo una identificación más específica.</a:t>
            </a:r>
          </a:p>
        </p:txBody>
      </p:sp>
      <p:sp>
        <p:nvSpPr>
          <p:cNvPr name="TextBox 20" id="20"/>
          <p:cNvSpPr txBox="true"/>
          <p:nvPr/>
        </p:nvSpPr>
        <p:spPr>
          <a:xfrm rot="0">
            <a:off x="6532669" y="6695581"/>
            <a:ext cx="4161314" cy="10267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Almacena los datos de los veterinarios encargados del cuidado de los animales.</a:t>
            </a:r>
          </a:p>
        </p:txBody>
      </p:sp>
      <p:sp>
        <p:nvSpPr>
          <p:cNvPr name="TextBox 21" id="21"/>
          <p:cNvSpPr txBox="true"/>
          <p:nvPr/>
        </p:nvSpPr>
        <p:spPr>
          <a:xfrm rot="0">
            <a:off x="1191261" y="6553338"/>
            <a:ext cx="4161314" cy="6838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Guarda la información del refugio donde se encuentran los animales.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7799"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1413306" y="1143000"/>
            <a:ext cx="15156017" cy="1234211"/>
          </a:xfrm>
          <a:prstGeom prst="rect">
            <a:avLst/>
          </a:prstGeom>
        </p:spPr>
        <p:txBody>
          <a:bodyPr anchor="t" rtlCol="false" tIns="0" lIns="0" bIns="0" rIns="0">
            <a:spAutoFit/>
          </a:bodyPr>
          <a:lstStyle/>
          <a:p>
            <a:pPr algn="ctr">
              <a:lnSpc>
                <a:spcPts val="9412"/>
              </a:lnSpc>
            </a:pPr>
            <a:r>
              <a:rPr lang="en-US" sz="8880" b="true">
                <a:solidFill>
                  <a:srgbClr val="042239"/>
                </a:solidFill>
                <a:latin typeface="Montserrat Semi-Bold"/>
                <a:ea typeface="Montserrat Semi-Bold"/>
                <a:cs typeface="Montserrat Semi-Bold"/>
                <a:sym typeface="Montserrat Semi-Bold"/>
              </a:rPr>
              <a:t>Entidades</a:t>
            </a:r>
          </a:p>
        </p:txBody>
      </p:sp>
      <p:sp>
        <p:nvSpPr>
          <p:cNvPr name="TextBox 10" id="10"/>
          <p:cNvSpPr txBox="true"/>
          <p:nvPr/>
        </p:nvSpPr>
        <p:spPr>
          <a:xfrm rot="0">
            <a:off x="11926964" y="4705758"/>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Adopción</a:t>
            </a:r>
          </a:p>
        </p:txBody>
      </p:sp>
      <p:sp>
        <p:nvSpPr>
          <p:cNvPr name="TextBox 11" id="11"/>
          <p:cNvSpPr txBox="true"/>
          <p:nvPr/>
        </p:nvSpPr>
        <p:spPr>
          <a:xfrm rot="0">
            <a:off x="6826655" y="5953039"/>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Vacuna</a:t>
            </a:r>
          </a:p>
        </p:txBody>
      </p:sp>
      <p:sp>
        <p:nvSpPr>
          <p:cNvPr name="TextBox 12" id="12"/>
          <p:cNvSpPr txBox="true"/>
          <p:nvPr/>
        </p:nvSpPr>
        <p:spPr>
          <a:xfrm rot="0">
            <a:off x="1820005" y="4828636"/>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Donación</a:t>
            </a:r>
          </a:p>
        </p:txBody>
      </p:sp>
      <p:sp>
        <p:nvSpPr>
          <p:cNvPr name="TextBox 13" id="13"/>
          <p:cNvSpPr txBox="true"/>
          <p:nvPr/>
        </p:nvSpPr>
        <p:spPr>
          <a:xfrm rot="0">
            <a:off x="11926964" y="5368223"/>
            <a:ext cx="4161314" cy="17125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Registra el proceso de adopción, relacionando a un animal con un adoptante y registrando la información correspondiente al proceso.</a:t>
            </a:r>
          </a:p>
        </p:txBody>
      </p:sp>
      <p:sp>
        <p:nvSpPr>
          <p:cNvPr name="TextBox 14" id="14"/>
          <p:cNvSpPr txBox="true"/>
          <p:nvPr/>
        </p:nvSpPr>
        <p:spPr>
          <a:xfrm rot="0">
            <a:off x="6532669" y="6695581"/>
            <a:ext cx="4161314" cy="10267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Almacena el registro de las vacunas aplicadas a los animales para llevar un control de su salud.</a:t>
            </a:r>
          </a:p>
        </p:txBody>
      </p:sp>
      <p:sp>
        <p:nvSpPr>
          <p:cNvPr name="TextBox 15" id="15"/>
          <p:cNvSpPr txBox="true"/>
          <p:nvPr/>
        </p:nvSpPr>
        <p:spPr>
          <a:xfrm rot="0">
            <a:off x="1246116" y="5686663"/>
            <a:ext cx="4161314" cy="10267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Lleva el control de las donaciones que recibe el refugio para apoyar el cuidado de los animales.</a:t>
            </a:r>
          </a:p>
        </p:txBody>
      </p:sp>
      <p:sp>
        <p:nvSpPr>
          <p:cNvPr name="TextBox 16" id="16"/>
          <p:cNvSpPr txBox="true"/>
          <p:nvPr/>
        </p:nvSpPr>
        <p:spPr>
          <a:xfrm rot="0">
            <a:off x="6149325" y="2612612"/>
            <a:ext cx="4329320" cy="437742"/>
          </a:xfrm>
          <a:prstGeom prst="rect">
            <a:avLst/>
          </a:prstGeom>
        </p:spPr>
        <p:txBody>
          <a:bodyPr anchor="t" rtlCol="false" tIns="0" lIns="0" bIns="0" rIns="0">
            <a:spAutoFit/>
          </a:bodyPr>
          <a:lstStyle/>
          <a:p>
            <a:pPr algn="l">
              <a:lnSpc>
                <a:spcPts val="3382"/>
              </a:lnSpc>
            </a:pPr>
            <a:r>
              <a:rPr lang="en-US" sz="3191">
                <a:solidFill>
                  <a:srgbClr val="042239"/>
                </a:solidFill>
                <a:latin typeface="Montserrat"/>
                <a:ea typeface="Montserrat"/>
                <a:cs typeface="Montserrat"/>
                <a:sym typeface="Montserrat"/>
              </a:rPr>
              <a:t>Voluntario</a:t>
            </a:r>
          </a:p>
        </p:txBody>
      </p:sp>
      <p:sp>
        <p:nvSpPr>
          <p:cNvPr name="TextBox 17" id="17"/>
          <p:cNvSpPr txBox="true"/>
          <p:nvPr/>
        </p:nvSpPr>
        <p:spPr>
          <a:xfrm rot="0">
            <a:off x="5775977" y="3320296"/>
            <a:ext cx="4161314" cy="1369657"/>
          </a:xfrm>
          <a:prstGeom prst="rect">
            <a:avLst/>
          </a:prstGeom>
        </p:spPr>
        <p:txBody>
          <a:bodyPr anchor="t" rtlCol="false" tIns="0" lIns="0" bIns="0" rIns="0">
            <a:spAutoFit/>
          </a:bodyPr>
          <a:lstStyle/>
          <a:p>
            <a:pPr algn="just">
              <a:lnSpc>
                <a:spcPts val="2732"/>
              </a:lnSpc>
            </a:pPr>
            <a:r>
              <a:rPr lang="en-US" sz="1951">
                <a:solidFill>
                  <a:srgbClr val="042239"/>
                </a:solidFill>
                <a:latin typeface="Raleway Light"/>
                <a:ea typeface="Raleway Light"/>
                <a:cs typeface="Raleway Light"/>
                <a:sym typeface="Raleway Light"/>
              </a:rPr>
              <a:t>Registra la información de las personas que colaboran con el refugio en el cuidado y bienestar de los animales.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0618" y="444203"/>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TextBox 5" id="5"/>
          <p:cNvSpPr txBox="true"/>
          <p:nvPr/>
        </p:nvSpPr>
        <p:spPr>
          <a:xfrm rot="0">
            <a:off x="1203386" y="819150"/>
            <a:ext cx="13880451" cy="1873853"/>
          </a:xfrm>
          <a:prstGeom prst="rect">
            <a:avLst/>
          </a:prstGeom>
        </p:spPr>
        <p:txBody>
          <a:bodyPr anchor="t" rtlCol="false" tIns="0" lIns="0" bIns="0" rIns="0">
            <a:spAutoFit/>
          </a:bodyPr>
          <a:lstStyle/>
          <a:p>
            <a:pPr algn="l">
              <a:lnSpc>
                <a:spcPts val="15366"/>
              </a:lnSpc>
            </a:pPr>
            <a:r>
              <a:rPr lang="en-US" sz="10976" spc="669">
                <a:solidFill>
                  <a:srgbClr val="042239"/>
                </a:solidFill>
                <a:latin typeface="Montserrat"/>
                <a:ea typeface="Montserrat"/>
                <a:cs typeface="Montserrat"/>
                <a:sym typeface="Montserrat"/>
              </a:rPr>
              <a:t>Funcionamiento</a:t>
            </a:r>
          </a:p>
        </p:txBody>
      </p:sp>
      <p:sp>
        <p:nvSpPr>
          <p:cNvPr name="TextBox 6" id="6"/>
          <p:cNvSpPr txBox="true"/>
          <p:nvPr/>
        </p:nvSpPr>
        <p:spPr>
          <a:xfrm rot="0">
            <a:off x="1082609" y="3609695"/>
            <a:ext cx="8467990" cy="2071552"/>
          </a:xfrm>
          <a:prstGeom prst="rect">
            <a:avLst/>
          </a:prstGeom>
        </p:spPr>
        <p:txBody>
          <a:bodyPr anchor="t" rtlCol="false" tIns="0" lIns="0" bIns="0" rIns="0">
            <a:spAutoFit/>
          </a:bodyPr>
          <a:lstStyle/>
          <a:p>
            <a:pPr algn="l">
              <a:lnSpc>
                <a:spcPts val="4134"/>
              </a:lnSpc>
            </a:pPr>
            <a:r>
              <a:rPr lang="en-US" sz="2475">
                <a:solidFill>
                  <a:srgbClr val="042239"/>
                </a:solidFill>
                <a:latin typeface="Raleway"/>
                <a:ea typeface="Raleway"/>
                <a:cs typeface="Raleway"/>
                <a:sym typeface="Raleway"/>
              </a:rPr>
              <a:t>Patitas en Busca de un Hogar está pensado para facilitar la administración diaria de un refugio de animales. En lugar de llevar registros en papel o en varios archivos, toda la información se organiza en un solo sistema.</a:t>
            </a:r>
          </a:p>
        </p:txBody>
      </p:sp>
      <p:sp>
        <p:nvSpPr>
          <p:cNvPr name="TextBox 7" id="7"/>
          <p:cNvSpPr txBox="true"/>
          <p:nvPr/>
        </p:nvSpPr>
        <p:spPr>
          <a:xfrm rot="0">
            <a:off x="1028700" y="2550128"/>
            <a:ext cx="11030339" cy="934720"/>
          </a:xfrm>
          <a:prstGeom prst="rect">
            <a:avLst/>
          </a:prstGeom>
        </p:spPr>
        <p:txBody>
          <a:bodyPr anchor="t" rtlCol="false" tIns="0" lIns="0" bIns="0" rIns="0">
            <a:spAutoFit/>
          </a:bodyPr>
          <a:lstStyle/>
          <a:p>
            <a:pPr algn="ctr">
              <a:lnSpc>
                <a:spcPts val="7279"/>
              </a:lnSpc>
            </a:pPr>
            <a:r>
              <a:rPr lang="en-US" sz="5199">
                <a:solidFill>
                  <a:srgbClr val="000000"/>
                </a:solidFill>
                <a:latin typeface="Poppins"/>
                <a:ea typeface="Poppins"/>
                <a:cs typeface="Poppins"/>
                <a:sym typeface="Poppins"/>
              </a:rPr>
              <a:t>en los refugios de animales</a:t>
            </a:r>
          </a:p>
        </p:txBody>
      </p:sp>
      <p:sp>
        <p:nvSpPr>
          <p:cNvPr name="Freeform 8" id="8"/>
          <p:cNvSpPr/>
          <p:nvPr/>
        </p:nvSpPr>
        <p:spPr>
          <a:xfrm flipH="false" flipV="false" rot="-10800000">
            <a:off x="12707518" y="444203"/>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9" id="9"/>
          <p:cNvSpPr/>
          <p:nvPr/>
        </p:nvSpPr>
        <p:spPr>
          <a:xfrm flipH="false" flipV="false" rot="0">
            <a:off x="430618" y="3995362"/>
            <a:ext cx="4862782" cy="5560354"/>
          </a:xfrm>
          <a:custGeom>
            <a:avLst/>
            <a:gdLst/>
            <a:ahLst/>
            <a:cxnLst/>
            <a:rect r="r" b="b" t="t" l="l"/>
            <a:pathLst>
              <a:path h="5560354" w="4862782">
                <a:moveTo>
                  <a:pt x="0" y="0"/>
                </a:moveTo>
                <a:lnTo>
                  <a:pt x="4862783" y="0"/>
                </a:lnTo>
                <a:lnTo>
                  <a:pt x="4862783" y="5560353"/>
                </a:lnTo>
                <a:lnTo>
                  <a:pt x="0" y="5560353"/>
                </a:lnTo>
                <a:lnTo>
                  <a:pt x="0" y="0"/>
                </a:lnTo>
                <a:close/>
              </a:path>
            </a:pathLst>
          </a:custGeom>
          <a:blipFill>
            <a:blip r:embed="rId2"/>
            <a:stretch>
              <a:fillRect l="0" t="0" r="0" b="0"/>
            </a:stretch>
          </a:blipFill>
        </p:spPr>
      </p:sp>
      <p:sp>
        <p:nvSpPr>
          <p:cNvPr name="Freeform 10" id="10"/>
          <p:cNvSpPr/>
          <p:nvPr/>
        </p:nvSpPr>
        <p:spPr>
          <a:xfrm flipH="false" flipV="true" rot="-10800000">
            <a:off x="12652446" y="3995362"/>
            <a:ext cx="4862782" cy="5560354"/>
          </a:xfrm>
          <a:custGeom>
            <a:avLst/>
            <a:gdLst/>
            <a:ahLst/>
            <a:cxnLst/>
            <a:rect r="r" b="b" t="t" l="l"/>
            <a:pathLst>
              <a:path h="5560354" w="4862782">
                <a:moveTo>
                  <a:pt x="0" y="5560353"/>
                </a:moveTo>
                <a:lnTo>
                  <a:pt x="4862782" y="5560353"/>
                </a:lnTo>
                <a:lnTo>
                  <a:pt x="4862782" y="0"/>
                </a:lnTo>
                <a:lnTo>
                  <a:pt x="0" y="0"/>
                </a:lnTo>
                <a:lnTo>
                  <a:pt x="0" y="5560353"/>
                </a:lnTo>
                <a:close/>
              </a:path>
            </a:pathLst>
          </a:custGeom>
          <a:blipFill>
            <a:blip r:embed="rId2"/>
            <a:stretch>
              <a:fillRect l="0" t="0" r="0" b="0"/>
            </a:stretch>
          </a:blipFill>
        </p:spPr>
      </p:sp>
      <p:sp>
        <p:nvSpPr>
          <p:cNvPr name="Freeform 11" id="11"/>
          <p:cNvSpPr/>
          <p:nvPr/>
        </p:nvSpPr>
        <p:spPr>
          <a:xfrm flipH="false" flipV="true" rot="0">
            <a:off x="430618" y="308749"/>
            <a:ext cx="4862782" cy="5560354"/>
          </a:xfrm>
          <a:custGeom>
            <a:avLst/>
            <a:gdLst/>
            <a:ahLst/>
            <a:cxnLst/>
            <a:rect r="r" b="b" t="t" l="l"/>
            <a:pathLst>
              <a:path h="5560354" w="4862782">
                <a:moveTo>
                  <a:pt x="0" y="5560354"/>
                </a:moveTo>
                <a:lnTo>
                  <a:pt x="4862783" y="5560354"/>
                </a:lnTo>
                <a:lnTo>
                  <a:pt x="4862783" y="0"/>
                </a:lnTo>
                <a:lnTo>
                  <a:pt x="0" y="0"/>
                </a:lnTo>
                <a:lnTo>
                  <a:pt x="0" y="5560354"/>
                </a:lnTo>
                <a:close/>
              </a:path>
            </a:pathLst>
          </a:custGeom>
          <a:blipFill>
            <a:blip r:embed="rId2"/>
            <a:stretch>
              <a:fillRect l="0" t="0" r="0" b="0"/>
            </a:stretch>
          </a:blipFill>
        </p:spPr>
      </p:sp>
      <p:sp>
        <p:nvSpPr>
          <p:cNvPr name="TextBox 12" id="12"/>
          <p:cNvSpPr txBox="true"/>
          <p:nvPr/>
        </p:nvSpPr>
        <p:spPr>
          <a:xfrm rot="0">
            <a:off x="9321875" y="5831003"/>
            <a:ext cx="6661141" cy="3201885"/>
          </a:xfrm>
          <a:prstGeom prst="rect">
            <a:avLst/>
          </a:prstGeom>
        </p:spPr>
        <p:txBody>
          <a:bodyPr anchor="t" rtlCol="false" tIns="0" lIns="0" bIns="0" rIns="0">
            <a:spAutoFit/>
          </a:bodyPr>
          <a:lstStyle/>
          <a:p>
            <a:pPr algn="ctr">
              <a:lnSpc>
                <a:spcPts val="3171"/>
              </a:lnSpc>
              <a:spcBef>
                <a:spcPct val="0"/>
              </a:spcBef>
            </a:pPr>
            <a:r>
              <a:rPr lang="en-US" sz="2402">
                <a:solidFill>
                  <a:srgbClr val="000000"/>
                </a:solidFill>
                <a:latin typeface="Raleway"/>
                <a:ea typeface="Raleway"/>
                <a:cs typeface="Raleway"/>
                <a:sym typeface="Raleway"/>
              </a:rPr>
              <a:t>Por ejemplo, cuando llega un animal al refugio, se registra con sus datos (nombre, edad, especie, raza y estado). Si recibe una vacuna, esta queda registrada en el sistema. Los veterinarios pueden consultar la información del animal para darle seguimiento a su salud, mientras que los voluntarios colaboran en su cuidado.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3201"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2181364" y="1229851"/>
            <a:ext cx="13925272" cy="1697639"/>
          </a:xfrm>
          <a:prstGeom prst="rect">
            <a:avLst/>
          </a:prstGeom>
        </p:spPr>
        <p:txBody>
          <a:bodyPr anchor="t" rtlCol="false" tIns="0" lIns="0" bIns="0" rIns="0">
            <a:spAutoFit/>
          </a:bodyPr>
          <a:lstStyle/>
          <a:p>
            <a:pPr algn="ctr">
              <a:lnSpc>
                <a:spcPts val="13857"/>
              </a:lnSpc>
            </a:pPr>
            <a:r>
              <a:rPr lang="en-US" sz="9898" spc="603">
                <a:solidFill>
                  <a:srgbClr val="042239"/>
                </a:solidFill>
                <a:latin typeface="Montserrat"/>
                <a:ea typeface="Montserrat"/>
                <a:cs typeface="Montserrat"/>
                <a:sym typeface="Montserrat"/>
              </a:rPr>
              <a:t>Solución</a:t>
            </a:r>
          </a:p>
        </p:txBody>
      </p:sp>
      <p:sp>
        <p:nvSpPr>
          <p:cNvPr name="TextBox 10" id="10"/>
          <p:cNvSpPr txBox="true"/>
          <p:nvPr/>
        </p:nvSpPr>
        <p:spPr>
          <a:xfrm rot="0">
            <a:off x="3464730" y="3660457"/>
            <a:ext cx="12951606" cy="3966928"/>
          </a:xfrm>
          <a:prstGeom prst="rect">
            <a:avLst/>
          </a:prstGeom>
        </p:spPr>
        <p:txBody>
          <a:bodyPr anchor="t" rtlCol="false" tIns="0" lIns="0" bIns="0" rIns="0">
            <a:spAutoFit/>
          </a:bodyPr>
          <a:lstStyle/>
          <a:p>
            <a:pPr algn="just">
              <a:lnSpc>
                <a:spcPts val="3509"/>
              </a:lnSpc>
            </a:pPr>
            <a:r>
              <a:rPr lang="en-US" sz="2506">
                <a:solidFill>
                  <a:srgbClr val="042239"/>
                </a:solidFill>
                <a:latin typeface="Raleway Light"/>
                <a:ea typeface="Raleway Light"/>
                <a:cs typeface="Raleway Light"/>
                <a:sym typeface="Raleway Light"/>
              </a:rPr>
              <a:t>Para resolver esta problemática, se desarrolló Patitas en Busca de un Hogar, un sistema que centraliza la información del refugio en una sola aplicación. El proyecto permite registrar y administrar los datos de los animales, refugios, especies, razas, veterinarios, voluntarios, adoptantes, vacunas, donaciones y adopciones de forma organizada.</a:t>
            </a:r>
          </a:p>
          <a:p>
            <a:pPr algn="just">
              <a:lnSpc>
                <a:spcPts val="3509"/>
              </a:lnSpc>
            </a:pPr>
          </a:p>
          <a:p>
            <a:pPr algn="just">
              <a:lnSpc>
                <a:spcPts val="3509"/>
              </a:lnSpc>
            </a:pPr>
            <a:r>
              <a:rPr lang="en-US" sz="2506">
                <a:solidFill>
                  <a:srgbClr val="042239"/>
                </a:solidFill>
                <a:latin typeface="Raleway Light"/>
                <a:ea typeface="Raleway Light"/>
                <a:cs typeface="Raleway Light"/>
                <a:sym typeface="Raleway Light"/>
              </a:rPr>
              <a:t>Gracias a este sistema, es más fácil consultar, agregar, actualizar y eliminar información, reduciendo errores y mejorando la organización de los registros. Además, su estructura está diseñada para que en el futuro pueda integrarse con una base de datos MySQL, permitiendo un manejo de la inform</a:t>
            </a:r>
            <a:r>
              <a:rPr lang="en-US" sz="2506">
                <a:solidFill>
                  <a:srgbClr val="042239"/>
                </a:solidFill>
                <a:latin typeface="Raleway Light"/>
                <a:ea typeface="Raleway Light"/>
                <a:cs typeface="Raleway Light"/>
                <a:sym typeface="Raleway Light"/>
              </a:rPr>
              <a:t>ación más seguro y eficiente.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3201" y="587744"/>
            <a:ext cx="17139681" cy="9111512"/>
            <a:chOff x="0" y="0"/>
            <a:chExt cx="6479464" cy="3444505"/>
          </a:xfrm>
        </p:grpSpPr>
        <p:sp>
          <p:nvSpPr>
            <p:cNvPr name="Freeform 3" id="3"/>
            <p:cNvSpPr/>
            <p:nvPr/>
          </p:nvSpPr>
          <p:spPr>
            <a:xfrm flipH="false" flipV="false" rot="0">
              <a:off x="0" y="0"/>
              <a:ext cx="6479464" cy="3444505"/>
            </a:xfrm>
            <a:custGeom>
              <a:avLst/>
              <a:gdLst/>
              <a:ahLst/>
              <a:cxnLst/>
              <a:rect r="r" b="b" t="t" l="l"/>
              <a:pathLst>
                <a:path h="3444505" w="6479464">
                  <a:moveTo>
                    <a:pt x="0" y="0"/>
                  </a:moveTo>
                  <a:lnTo>
                    <a:pt x="6479464" y="0"/>
                  </a:lnTo>
                  <a:lnTo>
                    <a:pt x="6479464" y="3444505"/>
                  </a:lnTo>
                  <a:lnTo>
                    <a:pt x="0" y="3444505"/>
                  </a:lnTo>
                  <a:close/>
                </a:path>
              </a:pathLst>
            </a:custGeom>
            <a:ln w="38100" cap="sq">
              <a:solidFill>
                <a:srgbClr val="80B1DD"/>
              </a:solidFill>
              <a:prstDash val="solid"/>
              <a:miter/>
            </a:ln>
          </p:spPr>
        </p:sp>
        <p:sp>
          <p:nvSpPr>
            <p:cNvPr name="TextBox 4" id="4"/>
            <p:cNvSpPr txBox="true"/>
            <p:nvPr/>
          </p:nvSpPr>
          <p:spPr>
            <a:xfrm>
              <a:off x="0" y="-28575"/>
              <a:ext cx="6479464" cy="3473080"/>
            </a:xfrm>
            <a:prstGeom prst="rect">
              <a:avLst/>
            </a:prstGeom>
          </p:spPr>
          <p:txBody>
            <a:bodyPr anchor="ctr" rtlCol="false" tIns="48876" lIns="48876" bIns="48876" rIns="48876"/>
            <a:lstStyle/>
            <a:p>
              <a:pPr algn="ctr">
                <a:lnSpc>
                  <a:spcPts val="1885"/>
                </a:lnSpc>
              </a:pPr>
            </a:p>
          </p:txBody>
        </p:sp>
      </p:grpSp>
      <p:sp>
        <p:nvSpPr>
          <p:cNvPr name="Freeform 5" id="5"/>
          <p:cNvSpPr/>
          <p:nvPr/>
        </p:nvSpPr>
        <p:spPr>
          <a:xfrm flipH="false" flipV="true" rot="-10800000">
            <a:off x="12905502" y="4138902"/>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6" id="6"/>
          <p:cNvSpPr/>
          <p:nvPr/>
        </p:nvSpPr>
        <p:spPr>
          <a:xfrm flipH="false" flipV="false" rot="-10800000">
            <a:off x="12920100" y="587744"/>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Freeform 7" id="7"/>
          <p:cNvSpPr/>
          <p:nvPr/>
        </p:nvSpPr>
        <p:spPr>
          <a:xfrm flipH="false" flipV="true" rot="0">
            <a:off x="657799" y="587744"/>
            <a:ext cx="4862782" cy="5560354"/>
          </a:xfrm>
          <a:custGeom>
            <a:avLst/>
            <a:gdLst/>
            <a:ahLst/>
            <a:cxnLst/>
            <a:rect r="r" b="b" t="t" l="l"/>
            <a:pathLst>
              <a:path h="5560354" w="4862782">
                <a:moveTo>
                  <a:pt x="0" y="5560354"/>
                </a:moveTo>
                <a:lnTo>
                  <a:pt x="4862782" y="5560354"/>
                </a:lnTo>
                <a:lnTo>
                  <a:pt x="4862782" y="0"/>
                </a:lnTo>
                <a:lnTo>
                  <a:pt x="0" y="0"/>
                </a:lnTo>
                <a:lnTo>
                  <a:pt x="0" y="5560354"/>
                </a:lnTo>
                <a:close/>
              </a:path>
            </a:pathLst>
          </a:custGeom>
          <a:blipFill>
            <a:blip r:embed="rId2"/>
            <a:stretch>
              <a:fillRect l="0" t="0" r="0" b="0"/>
            </a:stretch>
          </a:blipFill>
        </p:spPr>
      </p:sp>
      <p:sp>
        <p:nvSpPr>
          <p:cNvPr name="Freeform 8" id="8"/>
          <p:cNvSpPr/>
          <p:nvPr/>
        </p:nvSpPr>
        <p:spPr>
          <a:xfrm flipH="false" flipV="false" rot="0">
            <a:off x="643201" y="4138902"/>
            <a:ext cx="4862782" cy="5560354"/>
          </a:xfrm>
          <a:custGeom>
            <a:avLst/>
            <a:gdLst/>
            <a:ahLst/>
            <a:cxnLst/>
            <a:rect r="r" b="b" t="t" l="l"/>
            <a:pathLst>
              <a:path h="5560354" w="4862782">
                <a:moveTo>
                  <a:pt x="0" y="0"/>
                </a:moveTo>
                <a:lnTo>
                  <a:pt x="4862782" y="0"/>
                </a:lnTo>
                <a:lnTo>
                  <a:pt x="4862782" y="5560354"/>
                </a:lnTo>
                <a:lnTo>
                  <a:pt x="0" y="5560354"/>
                </a:lnTo>
                <a:lnTo>
                  <a:pt x="0" y="0"/>
                </a:lnTo>
                <a:close/>
              </a:path>
            </a:pathLst>
          </a:custGeom>
          <a:blipFill>
            <a:blip r:embed="rId2"/>
            <a:stretch>
              <a:fillRect l="0" t="0" r="0" b="0"/>
            </a:stretch>
          </a:blipFill>
        </p:spPr>
      </p:sp>
      <p:sp>
        <p:nvSpPr>
          <p:cNvPr name="TextBox 9" id="9"/>
          <p:cNvSpPr txBox="true"/>
          <p:nvPr/>
        </p:nvSpPr>
        <p:spPr>
          <a:xfrm rot="0">
            <a:off x="1887738" y="4076290"/>
            <a:ext cx="14512524" cy="2455101"/>
          </a:xfrm>
          <a:prstGeom prst="rect">
            <a:avLst/>
          </a:prstGeom>
        </p:spPr>
        <p:txBody>
          <a:bodyPr anchor="t" rtlCol="false" tIns="0" lIns="0" bIns="0" rIns="0">
            <a:spAutoFit/>
          </a:bodyPr>
          <a:lstStyle/>
          <a:p>
            <a:pPr algn="ctr">
              <a:lnSpc>
                <a:spcPts val="20079"/>
              </a:lnSpc>
            </a:pPr>
            <a:r>
              <a:rPr lang="en-US" b="true" sz="14342" spc="874">
                <a:solidFill>
                  <a:srgbClr val="042239"/>
                </a:solidFill>
                <a:latin typeface="Montserrat Semi-Bold"/>
                <a:ea typeface="Montserrat Semi-Bold"/>
                <a:cs typeface="Montserrat Semi-Bold"/>
                <a:sym typeface="Montserrat Semi-Bold"/>
              </a:rPr>
              <a:t>GRACIAS</a:t>
            </a:r>
          </a:p>
        </p:txBody>
      </p:sp>
      <p:sp>
        <p:nvSpPr>
          <p:cNvPr name="TextBox 10" id="10"/>
          <p:cNvSpPr txBox="true"/>
          <p:nvPr/>
        </p:nvSpPr>
        <p:spPr>
          <a:xfrm rot="0">
            <a:off x="3089533" y="3414716"/>
            <a:ext cx="12247017" cy="937799"/>
          </a:xfrm>
          <a:prstGeom prst="rect">
            <a:avLst/>
          </a:prstGeom>
        </p:spPr>
        <p:txBody>
          <a:bodyPr anchor="t" rtlCol="false" tIns="0" lIns="0" bIns="0" rIns="0">
            <a:spAutoFit/>
          </a:bodyPr>
          <a:lstStyle/>
          <a:p>
            <a:pPr algn="ctr">
              <a:lnSpc>
                <a:spcPts val="7635"/>
              </a:lnSpc>
            </a:pPr>
            <a:r>
              <a:rPr lang="en-US" sz="5453" spc="2186">
                <a:solidFill>
                  <a:srgbClr val="042239"/>
                </a:solidFill>
                <a:latin typeface="Montserrat Light"/>
                <a:ea typeface="Montserrat Light"/>
                <a:cs typeface="Montserrat Light"/>
                <a:sym typeface="Montserrat Light"/>
              </a:rPr>
              <a:t>MUCHAS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DAHQpsaXXd0</dc:identifier>
  <dcterms:modified xsi:type="dcterms:W3CDTF">2011-08-01T06:04:30Z</dcterms:modified>
  <cp:revision>1</cp:revision>
  <dc:title>Presentación Diapositivas Propuesta de Proyecto Orgánico Azul y Blanco</dc:title>
</cp:coreProperties>
</file>